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304" r:id="rId3"/>
    <p:sldId id="338" r:id="rId4"/>
    <p:sldId id="336" r:id="rId5"/>
    <p:sldId id="361" r:id="rId6"/>
    <p:sldId id="339" r:id="rId7"/>
    <p:sldId id="335" r:id="rId8"/>
    <p:sldId id="362" r:id="rId9"/>
    <p:sldId id="363" r:id="rId10"/>
    <p:sldId id="364" r:id="rId11"/>
    <p:sldId id="373" r:id="rId12"/>
    <p:sldId id="374" r:id="rId13"/>
    <p:sldId id="383" r:id="rId14"/>
    <p:sldId id="384" r:id="rId15"/>
    <p:sldId id="385" r:id="rId16"/>
    <p:sldId id="375" r:id="rId17"/>
    <p:sldId id="376" r:id="rId18"/>
    <p:sldId id="386" r:id="rId19"/>
    <p:sldId id="378" r:id="rId20"/>
    <p:sldId id="377" r:id="rId21"/>
    <p:sldId id="390" r:id="rId22"/>
    <p:sldId id="380" r:id="rId23"/>
    <p:sldId id="389" r:id="rId24"/>
    <p:sldId id="388" r:id="rId25"/>
    <p:sldId id="391" r:id="rId26"/>
    <p:sldId id="381" r:id="rId27"/>
    <p:sldId id="382" r:id="rId28"/>
    <p:sldId id="397" r:id="rId29"/>
    <p:sldId id="394" r:id="rId30"/>
    <p:sldId id="395" r:id="rId31"/>
    <p:sldId id="398" r:id="rId32"/>
    <p:sldId id="399" r:id="rId3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877" autoAdjust="0"/>
  </p:normalViewPr>
  <p:slideViewPr>
    <p:cSldViewPr snapToGrid="0">
      <p:cViewPr varScale="1">
        <p:scale>
          <a:sx n="59" d="100"/>
          <a:sy n="59" d="100"/>
        </p:scale>
        <p:origin x="9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ED84D195-0723-45E2-AD07-6DA7BF6DD655}" type="datetimeFigureOut">
              <a:rPr lang="en-US" smtClean="0"/>
              <a:t>9/10/2026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5CAA61FF-0360-4FDF-8451-EBF2DE93FE86}" type="slidenum">
              <a:rPr lang="en-US" smtClean="0"/>
              <a:t>‹#›</a:t>
            </a:fld>
            <a:endParaRPr lang="en-US"/>
          </a:p>
        </p:txBody>
      </p:sp>
    </p:spTree>
    <p:extLst>
      <p:ext uri="{BB962C8B-B14F-4D97-AF65-F5344CB8AC3E}">
        <p14:creationId xmlns:p14="http://schemas.microsoft.com/office/powerpoint/2010/main" val="2174481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AA61FF-0360-4FDF-8451-EBF2DE93FE86}" type="slidenum">
              <a:rPr lang="en-US" smtClean="0"/>
              <a:t>1</a:t>
            </a:fld>
            <a:endParaRPr lang="en-US"/>
          </a:p>
        </p:txBody>
      </p:sp>
    </p:spTree>
    <p:extLst>
      <p:ext uri="{BB962C8B-B14F-4D97-AF65-F5344CB8AC3E}">
        <p14:creationId xmlns:p14="http://schemas.microsoft.com/office/powerpoint/2010/main" val="1712698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moore machine</a:t>
            </a:r>
          </a:p>
        </p:txBody>
      </p:sp>
      <p:sp>
        <p:nvSpPr>
          <p:cNvPr id="4" name="Slide Number Placeholder 3"/>
          <p:cNvSpPr>
            <a:spLocks noGrp="1"/>
          </p:cNvSpPr>
          <p:nvPr>
            <p:ph type="sldNum" sz="quarter" idx="5"/>
          </p:nvPr>
        </p:nvSpPr>
        <p:spPr/>
        <p:txBody>
          <a:bodyPr/>
          <a:lstStyle/>
          <a:p>
            <a:fld id="{5CAA61FF-0360-4FDF-8451-EBF2DE93FE86}" type="slidenum">
              <a:rPr lang="en-US" smtClean="0"/>
              <a:t>3</a:t>
            </a:fld>
            <a:endParaRPr lang="en-US"/>
          </a:p>
        </p:txBody>
      </p:sp>
    </p:spTree>
    <p:extLst>
      <p:ext uri="{BB962C8B-B14F-4D97-AF65-F5344CB8AC3E}">
        <p14:creationId xmlns:p14="http://schemas.microsoft.com/office/powerpoint/2010/main" val="299356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AA61FF-0360-4FDF-8451-EBF2DE93FE86}" type="slidenum">
              <a:rPr lang="en-US" smtClean="0"/>
              <a:t>6</a:t>
            </a:fld>
            <a:endParaRPr lang="en-US"/>
          </a:p>
        </p:txBody>
      </p:sp>
    </p:spTree>
    <p:extLst>
      <p:ext uri="{BB962C8B-B14F-4D97-AF65-F5344CB8AC3E}">
        <p14:creationId xmlns:p14="http://schemas.microsoft.com/office/powerpoint/2010/main" val="1117867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Historical / Hardware reason:</a:t>
            </a:r>
            <a:endParaRPr lang="en-US" dirty="0"/>
          </a:p>
          <a:p>
            <a:r>
              <a:rPr lang="en-US" dirty="0"/>
              <a:t>Many physical chips and flip-flops are designed with active-low reset pins because it is easier and more reliable in hardware to force signals to zero (ground) than to one (power).</a:t>
            </a:r>
          </a:p>
          <a:p>
            <a:r>
              <a:rPr lang="en-US" dirty="0"/>
              <a:t>Active-low signals are less sensitive to electrical noise in some cases.</a:t>
            </a:r>
          </a:p>
          <a:p>
            <a:r>
              <a:rPr lang="en-US" b="1" dirty="0"/>
              <a:t>Convention:</a:t>
            </a:r>
            <a:endParaRPr lang="en-US" dirty="0"/>
          </a:p>
          <a:p>
            <a:r>
              <a:rPr lang="en-US" dirty="0"/>
              <a:t>Since so many devices use active-low reset, it became an industry standard.</a:t>
            </a:r>
          </a:p>
          <a:p>
            <a:r>
              <a:rPr lang="en-US" dirty="0"/>
              <a:t>Adding the </a:t>
            </a:r>
            <a:r>
              <a:rPr lang="en-US" sz="1200" kern="1200" dirty="0">
                <a:solidFill>
                  <a:schemeClr val="tx1"/>
                </a:solidFill>
                <a:latin typeface="+mn-lt"/>
                <a:ea typeface="+mn-ea"/>
                <a:cs typeface="+mn-cs"/>
              </a:rPr>
              <a:t>_n</a:t>
            </a:r>
            <a:r>
              <a:rPr lang="en-US" dirty="0"/>
              <a:t> (or sometimes </a:t>
            </a:r>
            <a:r>
              <a:rPr lang="en-US" sz="1200" kern="1200" dirty="0">
                <a:solidFill>
                  <a:schemeClr val="tx1"/>
                </a:solidFill>
                <a:latin typeface="+mn-lt"/>
                <a:ea typeface="+mn-ea"/>
                <a:cs typeface="+mn-cs"/>
              </a:rPr>
              <a:t>_b</a:t>
            </a:r>
            <a:r>
              <a:rPr lang="en-US" dirty="0"/>
              <a:t> for “bar”) in the name makes it </a:t>
            </a:r>
            <a:r>
              <a:rPr lang="en-US" b="1" dirty="0"/>
              <a:t>clear to readers</a:t>
            </a:r>
            <a:r>
              <a:rPr lang="en-US" dirty="0"/>
              <a:t> that this reset is active when low.</a:t>
            </a:r>
          </a:p>
          <a:p>
            <a:endParaRPr lang="en-US" dirty="0"/>
          </a:p>
        </p:txBody>
      </p:sp>
      <p:sp>
        <p:nvSpPr>
          <p:cNvPr id="4" name="Slide Number Placeholder 3"/>
          <p:cNvSpPr>
            <a:spLocks noGrp="1"/>
          </p:cNvSpPr>
          <p:nvPr>
            <p:ph type="sldNum" sz="quarter" idx="5"/>
          </p:nvPr>
        </p:nvSpPr>
        <p:spPr/>
        <p:txBody>
          <a:bodyPr/>
          <a:lstStyle/>
          <a:p>
            <a:fld id="{5CAA61FF-0360-4FDF-8451-EBF2DE93FE86}" type="slidenum">
              <a:rPr lang="en-US" smtClean="0"/>
              <a:t>15</a:t>
            </a:fld>
            <a:endParaRPr lang="en-US"/>
          </a:p>
        </p:txBody>
      </p:sp>
    </p:spTree>
    <p:extLst>
      <p:ext uri="{BB962C8B-B14F-4D97-AF65-F5344CB8AC3E}">
        <p14:creationId xmlns:p14="http://schemas.microsoft.com/office/powerpoint/2010/main" val="3559467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block of multiple statements must be grouped and be within begin and end.</a:t>
            </a:r>
            <a:endParaRPr lang="en-US" sz="1100" dirty="0">
              <a:solidFill>
                <a:srgbClr val="002060"/>
              </a:solidFill>
            </a:endParaRPr>
          </a:p>
          <a:p>
            <a:endParaRPr lang="en-US" dirty="0"/>
          </a:p>
        </p:txBody>
      </p:sp>
      <p:sp>
        <p:nvSpPr>
          <p:cNvPr id="4" name="Slide Number Placeholder 3"/>
          <p:cNvSpPr>
            <a:spLocks noGrp="1"/>
          </p:cNvSpPr>
          <p:nvPr>
            <p:ph type="sldNum" sz="quarter" idx="5"/>
          </p:nvPr>
        </p:nvSpPr>
        <p:spPr/>
        <p:txBody>
          <a:bodyPr/>
          <a:lstStyle/>
          <a:p>
            <a:fld id="{5CAA61FF-0360-4FDF-8451-EBF2DE93FE86}" type="slidenum">
              <a:rPr lang="en-US" smtClean="0"/>
              <a:t>29</a:t>
            </a:fld>
            <a:endParaRPr lang="en-US"/>
          </a:p>
        </p:txBody>
      </p:sp>
    </p:spTree>
    <p:extLst>
      <p:ext uri="{BB962C8B-B14F-4D97-AF65-F5344CB8AC3E}">
        <p14:creationId xmlns:p14="http://schemas.microsoft.com/office/powerpoint/2010/main" val="1400758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Execution will exit the case block without doing anything if none of the items match the expression and a default statement is not given.</a:t>
            </a:r>
            <a:endParaRPr lang="en-US" dirty="0"/>
          </a:p>
        </p:txBody>
      </p:sp>
      <p:sp>
        <p:nvSpPr>
          <p:cNvPr id="4" name="Slide Number Placeholder 3"/>
          <p:cNvSpPr>
            <a:spLocks noGrp="1"/>
          </p:cNvSpPr>
          <p:nvPr>
            <p:ph type="sldNum" sz="quarter" idx="5"/>
          </p:nvPr>
        </p:nvSpPr>
        <p:spPr/>
        <p:txBody>
          <a:bodyPr/>
          <a:lstStyle/>
          <a:p>
            <a:fld id="{5CAA61FF-0360-4FDF-8451-EBF2DE93FE86}" type="slidenum">
              <a:rPr lang="en-US" smtClean="0"/>
              <a:t>30</a:t>
            </a:fld>
            <a:endParaRPr lang="en-US"/>
          </a:p>
        </p:txBody>
      </p:sp>
    </p:spTree>
    <p:extLst>
      <p:ext uri="{BB962C8B-B14F-4D97-AF65-F5344CB8AC3E}">
        <p14:creationId xmlns:p14="http://schemas.microsoft.com/office/powerpoint/2010/main" val="1546521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7DB1D-180D-AB2A-0AD6-131D526C4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8FFE1-DA81-9901-D511-004F87F3F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D42CF-F260-7D60-94E2-C339D4C43A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930700-FE86-81D1-4DD1-4924B2F5CE42}"/>
              </a:ext>
            </a:extLst>
          </p:cNvPr>
          <p:cNvSpPr>
            <a:spLocks noGrp="1"/>
          </p:cNvSpPr>
          <p:nvPr>
            <p:ph type="sldNum" sz="quarter" idx="5"/>
          </p:nvPr>
        </p:nvSpPr>
        <p:spPr/>
        <p:txBody>
          <a:bodyPr/>
          <a:lstStyle/>
          <a:p>
            <a:fld id="{5CAA61FF-0360-4FDF-8451-EBF2DE93FE86}" type="slidenum">
              <a:rPr lang="en-US" smtClean="0"/>
              <a:t>31</a:t>
            </a:fld>
            <a:endParaRPr lang="en-US"/>
          </a:p>
        </p:txBody>
      </p:sp>
    </p:spTree>
    <p:extLst>
      <p:ext uri="{BB962C8B-B14F-4D97-AF65-F5344CB8AC3E}">
        <p14:creationId xmlns:p14="http://schemas.microsoft.com/office/powerpoint/2010/main" val="1080636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BE9E3-ADEA-A4CE-2020-67927CD013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042DB0-0219-F2B5-38ED-AB9CD7F540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D0E749-6DB5-D9D9-A1EB-54F8234862B2}"/>
              </a:ext>
            </a:extLst>
          </p:cNvPr>
          <p:cNvSpPr>
            <a:spLocks noGrp="1"/>
          </p:cNvSpPr>
          <p:nvPr>
            <p:ph type="dt" sz="half" idx="10"/>
          </p:nvPr>
        </p:nvSpPr>
        <p:spPr/>
        <p:txBody>
          <a:bodyPr/>
          <a:lstStyle/>
          <a:p>
            <a:fld id="{A6FC2A1F-CA4F-4DFC-92A3-F6251E3919FD}" type="datetime1">
              <a:rPr lang="en-US" smtClean="0"/>
              <a:t>9/10/2026</a:t>
            </a:fld>
            <a:endParaRPr lang="en-US"/>
          </a:p>
        </p:txBody>
      </p:sp>
      <p:sp>
        <p:nvSpPr>
          <p:cNvPr id="5" name="Footer Placeholder 4">
            <a:extLst>
              <a:ext uri="{FF2B5EF4-FFF2-40B4-BE49-F238E27FC236}">
                <a16:creationId xmlns:a16="http://schemas.microsoft.com/office/drawing/2014/main" id="{062A4923-4A7C-A182-9D40-53CCC04588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6C3C8E-78C4-163C-DDFC-1783056FAF3D}"/>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1652304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8CF3-B5BD-F17A-8DDB-E6AD5F26E4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EA0959-BA19-D103-EC78-0C5F9898AD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ABD1FB-62EF-B182-80BE-5964B0ABD415}"/>
              </a:ext>
            </a:extLst>
          </p:cNvPr>
          <p:cNvSpPr>
            <a:spLocks noGrp="1"/>
          </p:cNvSpPr>
          <p:nvPr>
            <p:ph type="dt" sz="half" idx="10"/>
          </p:nvPr>
        </p:nvSpPr>
        <p:spPr/>
        <p:txBody>
          <a:bodyPr/>
          <a:lstStyle/>
          <a:p>
            <a:fld id="{3FB46326-133B-4BAB-8FEE-CC983B2ACEB0}" type="datetime1">
              <a:rPr lang="en-US" smtClean="0"/>
              <a:t>9/10/2026</a:t>
            </a:fld>
            <a:endParaRPr lang="en-US"/>
          </a:p>
        </p:txBody>
      </p:sp>
      <p:sp>
        <p:nvSpPr>
          <p:cNvPr id="5" name="Footer Placeholder 4">
            <a:extLst>
              <a:ext uri="{FF2B5EF4-FFF2-40B4-BE49-F238E27FC236}">
                <a16:creationId xmlns:a16="http://schemas.microsoft.com/office/drawing/2014/main" id="{A7098C9F-BD20-D649-DBE0-83F37C36A3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39782D-BE24-878C-0D0F-515E2BA0F74F}"/>
              </a:ext>
            </a:extLst>
          </p:cNvPr>
          <p:cNvSpPr>
            <a:spLocks noGrp="1"/>
          </p:cNvSpPr>
          <p:nvPr>
            <p:ph type="sldNum" sz="quarter" idx="12"/>
          </p:nvPr>
        </p:nvSpPr>
        <p:spPr/>
        <p:txBody>
          <a:bodyPr/>
          <a:lstStyle/>
          <a:p>
            <a:fld id="{B371FB23-F5EE-40F0-B170-9EA725515109}" type="slidenum">
              <a:rPr lang="en-US" smtClean="0"/>
              <a:t>‹#›</a:t>
            </a:fld>
            <a:endParaRPr lang="en-US"/>
          </a:p>
        </p:txBody>
      </p:sp>
      <p:sp>
        <p:nvSpPr>
          <p:cNvPr id="900" name="Footer Brand Text"/>
          <p:cNvSpPr txBox="1"/>
          <p:nvPr/>
        </p:nvSpPr>
        <p:spPr>
          <a:xfrm>
            <a:off x="838200" y="6356350"/>
            <a:ext cx="5486400" cy="365125"/>
          </a:xfrm>
          <a:prstGeom prst="rect">
            <a:avLst/>
          </a:prstGeom>
        </p:spPr>
        <p:txBody>
          <a:bodyPr vert="horz" lIns="91440" tIns="45720" rIns="91440" bIns="45720" rtlCol="0" anchor="ctr"/>
          <a:lstStyle/>
          <a:p>
            <a:pPr algn="l"/>
            <a:r>
              <a:rPr lang="en-US" sz="900" spc="100" dirty="0">
                <a:solidFill>
                  <a:srgbClr val="3A6C8C"/>
                </a:solidFill>
              </a:rPr>
              <a:t>DIGITAL SYSTEM DESIGN  ·  LECTURE 6</a:t>
            </a:r>
          </a:p>
        </p:txBody>
      </p:sp>
    </p:spTree>
    <p:extLst>
      <p:ext uri="{BB962C8B-B14F-4D97-AF65-F5344CB8AC3E}">
        <p14:creationId xmlns:p14="http://schemas.microsoft.com/office/powerpoint/2010/main" val="3571977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EA749-B920-754C-3D4B-F1FE6CE3B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225B7B-C269-1A90-BF1F-40B4FB1B84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43C445-9A9B-7BED-207C-011A860300D2}"/>
              </a:ext>
            </a:extLst>
          </p:cNvPr>
          <p:cNvSpPr>
            <a:spLocks noGrp="1"/>
          </p:cNvSpPr>
          <p:nvPr>
            <p:ph type="dt" sz="half" idx="10"/>
          </p:nvPr>
        </p:nvSpPr>
        <p:spPr/>
        <p:txBody>
          <a:bodyPr/>
          <a:lstStyle/>
          <a:p>
            <a:fld id="{8BFCE244-8803-4E4F-9DC3-EC3CDCE8C62F}" type="datetime1">
              <a:rPr lang="en-US" smtClean="0"/>
              <a:t>9/10/2026</a:t>
            </a:fld>
            <a:endParaRPr lang="en-US"/>
          </a:p>
        </p:txBody>
      </p:sp>
      <p:sp>
        <p:nvSpPr>
          <p:cNvPr id="5" name="Footer Placeholder 4">
            <a:extLst>
              <a:ext uri="{FF2B5EF4-FFF2-40B4-BE49-F238E27FC236}">
                <a16:creationId xmlns:a16="http://schemas.microsoft.com/office/drawing/2014/main" id="{54AEFA7B-1207-F992-DD9E-9D75D6D4C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780D74-DB28-F0FF-7669-1C80C91CCB7D}"/>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2514219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EC63C-CAD8-4CAA-860D-5739B53691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61C56D-A1FE-3384-54FB-FB9DF9BBAF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F79204-D03A-AF75-88E3-8D99CDCB50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5C1572-6F22-E84E-3BD5-098E5E57380B}"/>
              </a:ext>
            </a:extLst>
          </p:cNvPr>
          <p:cNvSpPr>
            <a:spLocks noGrp="1"/>
          </p:cNvSpPr>
          <p:nvPr>
            <p:ph type="dt" sz="half" idx="10"/>
          </p:nvPr>
        </p:nvSpPr>
        <p:spPr/>
        <p:txBody>
          <a:bodyPr/>
          <a:lstStyle/>
          <a:p>
            <a:fld id="{88871610-545C-4167-B2D4-AA1860E35F6E}" type="datetime1">
              <a:rPr lang="en-US" smtClean="0"/>
              <a:t>9/10/2026</a:t>
            </a:fld>
            <a:endParaRPr lang="en-US"/>
          </a:p>
        </p:txBody>
      </p:sp>
      <p:sp>
        <p:nvSpPr>
          <p:cNvPr id="6" name="Footer Placeholder 5">
            <a:extLst>
              <a:ext uri="{FF2B5EF4-FFF2-40B4-BE49-F238E27FC236}">
                <a16:creationId xmlns:a16="http://schemas.microsoft.com/office/drawing/2014/main" id="{E61C1606-0435-D006-E10A-9040E4EC82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AD0DE3-A352-DB9E-2272-282574A041D8}"/>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293031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0885-B988-5413-8E67-E43A6FBCF1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DC4292-BC7D-9940-94BA-DAB76D2279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E14CA4-8D68-4CF8-AB62-6D06AC077F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E29EC1-0FC8-3A6B-DBDF-EDA77EB665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C89C2C-8D82-2655-EEF0-4B96CABB9B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0A442F-F2A0-3283-EA83-ACA54A224B71}"/>
              </a:ext>
            </a:extLst>
          </p:cNvPr>
          <p:cNvSpPr>
            <a:spLocks noGrp="1"/>
          </p:cNvSpPr>
          <p:nvPr>
            <p:ph type="dt" sz="half" idx="10"/>
          </p:nvPr>
        </p:nvSpPr>
        <p:spPr/>
        <p:txBody>
          <a:bodyPr/>
          <a:lstStyle/>
          <a:p>
            <a:fld id="{51250919-6175-4A12-80FA-E5648AA5F158}" type="datetime1">
              <a:rPr lang="en-US" smtClean="0"/>
              <a:t>9/10/2026</a:t>
            </a:fld>
            <a:endParaRPr lang="en-US"/>
          </a:p>
        </p:txBody>
      </p:sp>
      <p:sp>
        <p:nvSpPr>
          <p:cNvPr id="8" name="Footer Placeholder 7">
            <a:extLst>
              <a:ext uri="{FF2B5EF4-FFF2-40B4-BE49-F238E27FC236}">
                <a16:creationId xmlns:a16="http://schemas.microsoft.com/office/drawing/2014/main" id="{A1029224-9D45-5B64-0E86-E771557A70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45CD4E-4759-98DE-5548-A908E637978B}"/>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1195276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F9A17-5CC5-C2B8-C49B-FF6EF253B2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571020-A5BE-04FA-1717-BC48988276EE}"/>
              </a:ext>
            </a:extLst>
          </p:cNvPr>
          <p:cNvSpPr>
            <a:spLocks noGrp="1"/>
          </p:cNvSpPr>
          <p:nvPr>
            <p:ph type="dt" sz="half" idx="10"/>
          </p:nvPr>
        </p:nvSpPr>
        <p:spPr/>
        <p:txBody>
          <a:bodyPr/>
          <a:lstStyle/>
          <a:p>
            <a:fld id="{4C409CFB-F079-4A13-8F53-9C20914DE3D6}" type="datetime1">
              <a:rPr lang="en-US" smtClean="0"/>
              <a:t>9/10/2026</a:t>
            </a:fld>
            <a:endParaRPr lang="en-US"/>
          </a:p>
        </p:txBody>
      </p:sp>
      <p:sp>
        <p:nvSpPr>
          <p:cNvPr id="4" name="Footer Placeholder 3">
            <a:extLst>
              <a:ext uri="{FF2B5EF4-FFF2-40B4-BE49-F238E27FC236}">
                <a16:creationId xmlns:a16="http://schemas.microsoft.com/office/drawing/2014/main" id="{4883566C-6FAD-AD06-263E-75D170FC25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00D73E-6DBF-15D5-AD37-427AFDB724F5}"/>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2227248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C52673-AD42-B0D1-78E7-4F92A9EE5C05}"/>
              </a:ext>
            </a:extLst>
          </p:cNvPr>
          <p:cNvSpPr>
            <a:spLocks noGrp="1"/>
          </p:cNvSpPr>
          <p:nvPr>
            <p:ph type="dt" sz="half" idx="10"/>
          </p:nvPr>
        </p:nvSpPr>
        <p:spPr/>
        <p:txBody>
          <a:bodyPr/>
          <a:lstStyle/>
          <a:p>
            <a:fld id="{CBA89D35-67B9-4D64-82FB-322F8EEE0831}" type="datetime1">
              <a:rPr lang="en-US" smtClean="0"/>
              <a:t>9/10/2026</a:t>
            </a:fld>
            <a:endParaRPr lang="en-US"/>
          </a:p>
        </p:txBody>
      </p:sp>
      <p:sp>
        <p:nvSpPr>
          <p:cNvPr id="3" name="Footer Placeholder 2">
            <a:extLst>
              <a:ext uri="{FF2B5EF4-FFF2-40B4-BE49-F238E27FC236}">
                <a16:creationId xmlns:a16="http://schemas.microsoft.com/office/drawing/2014/main" id="{1AA367EC-6E55-BC8D-D4B9-222FED9764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9C7D45-B496-EF90-0E0A-C3EAA7B58EF0}"/>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3837523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56950-5CB3-4628-E952-85BD330938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F3BF49-7EA5-67D0-ACF6-E31150ED88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535531-2E5E-F64A-9AAD-E26A5BA781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11CA7E-0CE6-4818-177A-7236FA877A65}"/>
              </a:ext>
            </a:extLst>
          </p:cNvPr>
          <p:cNvSpPr>
            <a:spLocks noGrp="1"/>
          </p:cNvSpPr>
          <p:nvPr>
            <p:ph type="dt" sz="half" idx="10"/>
          </p:nvPr>
        </p:nvSpPr>
        <p:spPr/>
        <p:txBody>
          <a:bodyPr/>
          <a:lstStyle/>
          <a:p>
            <a:fld id="{87B74876-10C7-46CE-A7A6-269ECDC567AD}" type="datetime1">
              <a:rPr lang="en-US" smtClean="0"/>
              <a:t>9/10/2026</a:t>
            </a:fld>
            <a:endParaRPr lang="en-US"/>
          </a:p>
        </p:txBody>
      </p:sp>
      <p:sp>
        <p:nvSpPr>
          <p:cNvPr id="6" name="Footer Placeholder 5">
            <a:extLst>
              <a:ext uri="{FF2B5EF4-FFF2-40B4-BE49-F238E27FC236}">
                <a16:creationId xmlns:a16="http://schemas.microsoft.com/office/drawing/2014/main" id="{2EC6CA60-39FB-3888-528B-B16581A68A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18EB32-E4E9-64F8-D821-80FBE5454092}"/>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2488816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02F07-8B2C-1CF9-80FA-608C75F015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F9D8D0-330A-DF23-907C-406A4AE06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79297D-0388-C5C8-020D-0DE499B2C0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FF36ED-1A68-FC8F-1941-EF3D29B4C29E}"/>
              </a:ext>
            </a:extLst>
          </p:cNvPr>
          <p:cNvSpPr>
            <a:spLocks noGrp="1"/>
          </p:cNvSpPr>
          <p:nvPr>
            <p:ph type="dt" sz="half" idx="10"/>
          </p:nvPr>
        </p:nvSpPr>
        <p:spPr/>
        <p:txBody>
          <a:bodyPr/>
          <a:lstStyle/>
          <a:p>
            <a:fld id="{B6996934-5E28-427B-843C-8765EF283EE7}" type="datetime1">
              <a:rPr lang="en-US" smtClean="0"/>
              <a:t>9/10/2026</a:t>
            </a:fld>
            <a:endParaRPr lang="en-US"/>
          </a:p>
        </p:txBody>
      </p:sp>
      <p:sp>
        <p:nvSpPr>
          <p:cNvPr id="6" name="Footer Placeholder 5">
            <a:extLst>
              <a:ext uri="{FF2B5EF4-FFF2-40B4-BE49-F238E27FC236}">
                <a16:creationId xmlns:a16="http://schemas.microsoft.com/office/drawing/2014/main" id="{8109F56C-9954-3897-5AA3-5731E097A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7F3B0F-CD20-18F8-87C7-8D772E1658C0}"/>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199191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5B89F-9F2E-4292-0FE2-F47D203437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ABA8F6-0118-B7D1-2A55-6F6922BFCE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A3DFB1-9A63-1324-2DAA-1B6EF81FB9C2}"/>
              </a:ext>
            </a:extLst>
          </p:cNvPr>
          <p:cNvSpPr>
            <a:spLocks noGrp="1"/>
          </p:cNvSpPr>
          <p:nvPr>
            <p:ph type="dt" sz="half" idx="10"/>
          </p:nvPr>
        </p:nvSpPr>
        <p:spPr/>
        <p:txBody>
          <a:bodyPr/>
          <a:lstStyle/>
          <a:p>
            <a:fld id="{05F87D5B-4AF1-4FB4-92F6-65B2FAFEA12A}" type="datetime1">
              <a:rPr lang="en-US" smtClean="0"/>
              <a:t>9/10/2026</a:t>
            </a:fld>
            <a:endParaRPr lang="en-US"/>
          </a:p>
        </p:txBody>
      </p:sp>
      <p:sp>
        <p:nvSpPr>
          <p:cNvPr id="5" name="Footer Placeholder 4">
            <a:extLst>
              <a:ext uri="{FF2B5EF4-FFF2-40B4-BE49-F238E27FC236}">
                <a16:creationId xmlns:a16="http://schemas.microsoft.com/office/drawing/2014/main" id="{FED010D1-1345-F292-7505-78F8BDABC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0657B7-1F96-AB0B-76E2-E4A9C508B99D}"/>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990523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F74BFE-04A0-03D2-D8F1-28EBDF0211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71139F-C6A2-F9C4-12FF-EC37E0F9D1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486495-5BCE-1BB0-17E4-F252FAA98AB1}"/>
              </a:ext>
            </a:extLst>
          </p:cNvPr>
          <p:cNvSpPr>
            <a:spLocks noGrp="1"/>
          </p:cNvSpPr>
          <p:nvPr>
            <p:ph type="dt" sz="half" idx="10"/>
          </p:nvPr>
        </p:nvSpPr>
        <p:spPr/>
        <p:txBody>
          <a:bodyPr/>
          <a:lstStyle/>
          <a:p>
            <a:fld id="{DA64F8EE-0A71-42C2-8008-710DBA2D08D3}" type="datetime1">
              <a:rPr lang="en-US" smtClean="0"/>
              <a:t>9/10/2026</a:t>
            </a:fld>
            <a:endParaRPr lang="en-US"/>
          </a:p>
        </p:txBody>
      </p:sp>
      <p:sp>
        <p:nvSpPr>
          <p:cNvPr id="5" name="Footer Placeholder 4">
            <a:extLst>
              <a:ext uri="{FF2B5EF4-FFF2-40B4-BE49-F238E27FC236}">
                <a16:creationId xmlns:a16="http://schemas.microsoft.com/office/drawing/2014/main" id="{679B723F-307B-3688-90B6-73FE481A0E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771377-351E-A8B0-A52E-DD1A4C067A46}"/>
              </a:ext>
            </a:extLst>
          </p:cNvPr>
          <p:cNvSpPr>
            <a:spLocks noGrp="1"/>
          </p:cNvSpPr>
          <p:nvPr>
            <p:ph type="sldNum" sz="quarter" idx="12"/>
          </p:nvPr>
        </p:nvSpPr>
        <p:spPr/>
        <p:txBody>
          <a:bodyPr/>
          <a:lstStyle/>
          <a:p>
            <a:fld id="{B371FB23-F5EE-40F0-B170-9EA725515109}" type="slidenum">
              <a:rPr lang="en-US" smtClean="0"/>
              <a:t>‹#›</a:t>
            </a:fld>
            <a:endParaRPr lang="en-US"/>
          </a:p>
        </p:txBody>
      </p:sp>
    </p:spTree>
    <p:extLst>
      <p:ext uri="{BB962C8B-B14F-4D97-AF65-F5344CB8AC3E}">
        <p14:creationId xmlns:p14="http://schemas.microsoft.com/office/powerpoint/2010/main" val="57899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5390F7-D265-F74D-79CC-E202005C3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61C15C-4FE9-964D-ABB8-80D19FF1E3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09555F-A8E3-58B8-B322-9ADD69C7C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120DE8-0C5A-4AD3-935F-928BB1BDC0C7}" type="datetime1">
              <a:rPr lang="en-US" smtClean="0"/>
              <a:t>9/10/2026</a:t>
            </a:fld>
            <a:endParaRPr lang="en-US"/>
          </a:p>
        </p:txBody>
      </p:sp>
      <p:sp>
        <p:nvSpPr>
          <p:cNvPr id="5" name="Footer Placeholder 4">
            <a:extLst>
              <a:ext uri="{FF2B5EF4-FFF2-40B4-BE49-F238E27FC236}">
                <a16:creationId xmlns:a16="http://schemas.microsoft.com/office/drawing/2014/main" id="{D250AD7A-0243-1F79-50E5-17F18F78D1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7F423A-4EFE-64CF-AC4B-36F07BDACA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71FB23-F5EE-40F0-B170-9EA725515109}" type="slidenum">
              <a:rPr lang="en-US" smtClean="0"/>
              <a:t>‹#›</a:t>
            </a:fld>
            <a:endParaRPr lang="en-US"/>
          </a:p>
        </p:txBody>
      </p:sp>
    </p:spTree>
    <p:extLst>
      <p:ext uri="{BB962C8B-B14F-4D97-AF65-F5344CB8AC3E}">
        <p14:creationId xmlns:p14="http://schemas.microsoft.com/office/powerpoint/2010/main" val="3062670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0"/>
        </a:solidFill>
        <a:effectLst/>
      </p:bgPr>
    </p:bg>
    <p:spTree>
      <p:nvGrpSpPr>
        <p:cNvPr id="1" name=""/>
        <p:cNvGrpSpPr/>
        <p:nvPr/>
      </p:nvGrpSpPr>
      <p:grpSpPr>
        <a:xfrm>
          <a:off x="0" y="0"/>
          <a:ext cx="0" cy="0"/>
          <a:chOff x="0" y="0"/>
          <a:chExt cx="0" cy="0"/>
        </a:xfrm>
      </p:grpSpPr>
      <p:sp>
        <p:nvSpPr>
          <p:cNvPr id="2" name="Shape 0"/>
          <p:cNvSpPr/>
          <p:nvPr/>
        </p:nvSpPr>
        <p:spPr>
          <a:xfrm>
            <a:off x="8229600" y="731520"/>
            <a:ext cx="1463040" cy="274320"/>
          </a:xfrm>
          <a:prstGeom prst="line">
            <a:avLst/>
          </a:prstGeom>
          <a:noFill/>
          <a:ln w="12700">
            <a:solidFill>
              <a:srgbClr val="3A6C8C">
                <a:alpha val="55000"/>
              </a:srgbClr>
            </a:solidFill>
            <a:prstDash val="solid"/>
          </a:ln>
        </p:spPr>
        <p:txBody>
          <a:bodyPr/>
          <a:lstStyle/>
          <a:p>
            <a:endParaRPr lang="en-US"/>
          </a:p>
        </p:txBody>
      </p:sp>
      <p:sp>
        <p:nvSpPr>
          <p:cNvPr id="3" name="Shape 1"/>
          <p:cNvSpPr/>
          <p:nvPr/>
        </p:nvSpPr>
        <p:spPr>
          <a:xfrm>
            <a:off x="9692640" y="731520"/>
            <a:ext cx="1371600" cy="731520"/>
          </a:xfrm>
          <a:prstGeom prst="line">
            <a:avLst/>
          </a:prstGeom>
          <a:noFill/>
          <a:ln w="12700">
            <a:solidFill>
              <a:srgbClr val="3A6C8C">
                <a:alpha val="55000"/>
              </a:srgbClr>
            </a:solidFill>
            <a:prstDash val="solid"/>
          </a:ln>
        </p:spPr>
        <p:txBody>
          <a:bodyPr/>
          <a:lstStyle/>
          <a:p>
            <a:endParaRPr lang="en-US"/>
          </a:p>
        </p:txBody>
      </p:sp>
      <p:sp>
        <p:nvSpPr>
          <p:cNvPr id="4" name="Shape 2"/>
          <p:cNvSpPr/>
          <p:nvPr/>
        </p:nvSpPr>
        <p:spPr>
          <a:xfrm>
            <a:off x="8229600" y="1005840"/>
            <a:ext cx="548640" cy="1371600"/>
          </a:xfrm>
          <a:prstGeom prst="line">
            <a:avLst/>
          </a:prstGeom>
          <a:noFill/>
          <a:ln w="12700">
            <a:solidFill>
              <a:srgbClr val="3A6C8C">
                <a:alpha val="55000"/>
              </a:srgbClr>
            </a:solidFill>
            <a:prstDash val="solid"/>
          </a:ln>
        </p:spPr>
        <p:txBody>
          <a:bodyPr/>
          <a:lstStyle/>
          <a:p>
            <a:endParaRPr lang="en-US"/>
          </a:p>
        </p:txBody>
      </p:sp>
      <p:sp>
        <p:nvSpPr>
          <p:cNvPr id="5" name="Shape 3"/>
          <p:cNvSpPr/>
          <p:nvPr/>
        </p:nvSpPr>
        <p:spPr>
          <a:xfrm>
            <a:off x="9692640" y="731520"/>
            <a:ext cx="731520" cy="1920240"/>
          </a:xfrm>
          <a:prstGeom prst="line">
            <a:avLst/>
          </a:prstGeom>
          <a:noFill/>
          <a:ln w="12700">
            <a:solidFill>
              <a:srgbClr val="3A6C8C">
                <a:alpha val="55000"/>
              </a:srgbClr>
            </a:solidFill>
            <a:prstDash val="solid"/>
          </a:ln>
        </p:spPr>
        <p:txBody>
          <a:bodyPr/>
          <a:lstStyle/>
          <a:p>
            <a:endParaRPr lang="en-US"/>
          </a:p>
        </p:txBody>
      </p:sp>
      <p:sp>
        <p:nvSpPr>
          <p:cNvPr id="6" name="Shape 4"/>
          <p:cNvSpPr/>
          <p:nvPr/>
        </p:nvSpPr>
        <p:spPr>
          <a:xfrm>
            <a:off x="8778240" y="2377440"/>
            <a:ext cx="1645920" cy="274320"/>
          </a:xfrm>
          <a:prstGeom prst="line">
            <a:avLst/>
          </a:prstGeom>
          <a:noFill/>
          <a:ln w="12700">
            <a:solidFill>
              <a:srgbClr val="3A6C8C">
                <a:alpha val="55000"/>
              </a:srgbClr>
            </a:solidFill>
            <a:prstDash val="solid"/>
          </a:ln>
        </p:spPr>
        <p:txBody>
          <a:bodyPr/>
          <a:lstStyle/>
          <a:p>
            <a:endParaRPr lang="en-US"/>
          </a:p>
        </p:txBody>
      </p:sp>
      <p:sp>
        <p:nvSpPr>
          <p:cNvPr id="7" name="Shape 5"/>
          <p:cNvSpPr/>
          <p:nvPr/>
        </p:nvSpPr>
        <p:spPr>
          <a:xfrm flipV="1">
            <a:off x="10424160" y="1463040"/>
            <a:ext cx="640080" cy="1188720"/>
          </a:xfrm>
          <a:prstGeom prst="line">
            <a:avLst/>
          </a:prstGeom>
          <a:noFill/>
          <a:ln w="12700">
            <a:solidFill>
              <a:srgbClr val="3A6C8C">
                <a:alpha val="55000"/>
              </a:srgbClr>
            </a:solidFill>
            <a:prstDash val="solid"/>
          </a:ln>
        </p:spPr>
        <p:txBody>
          <a:bodyPr/>
          <a:lstStyle/>
          <a:p>
            <a:endParaRPr lang="en-US"/>
          </a:p>
        </p:txBody>
      </p:sp>
      <p:sp>
        <p:nvSpPr>
          <p:cNvPr id="8" name="Shape 6"/>
          <p:cNvSpPr/>
          <p:nvPr/>
        </p:nvSpPr>
        <p:spPr>
          <a:xfrm flipV="1">
            <a:off x="7863840" y="2377440"/>
            <a:ext cx="914400" cy="1188720"/>
          </a:xfrm>
          <a:prstGeom prst="line">
            <a:avLst/>
          </a:prstGeom>
          <a:noFill/>
          <a:ln w="12700">
            <a:solidFill>
              <a:srgbClr val="3A6C8C">
                <a:alpha val="55000"/>
              </a:srgbClr>
            </a:solidFill>
            <a:prstDash val="solid"/>
          </a:ln>
        </p:spPr>
        <p:txBody>
          <a:bodyPr/>
          <a:lstStyle/>
          <a:p>
            <a:endParaRPr lang="en-US"/>
          </a:p>
        </p:txBody>
      </p:sp>
      <p:sp>
        <p:nvSpPr>
          <p:cNvPr id="9" name="Shape 7"/>
          <p:cNvSpPr/>
          <p:nvPr/>
        </p:nvSpPr>
        <p:spPr>
          <a:xfrm flipV="1">
            <a:off x="9509760" y="2651760"/>
            <a:ext cx="914400" cy="1371600"/>
          </a:xfrm>
          <a:prstGeom prst="line">
            <a:avLst/>
          </a:prstGeom>
          <a:noFill/>
          <a:ln w="12700">
            <a:solidFill>
              <a:srgbClr val="3A6C8C">
                <a:alpha val="55000"/>
              </a:srgbClr>
            </a:solidFill>
            <a:prstDash val="solid"/>
          </a:ln>
        </p:spPr>
        <p:txBody>
          <a:bodyPr/>
          <a:lstStyle/>
          <a:p>
            <a:endParaRPr lang="en-US"/>
          </a:p>
        </p:txBody>
      </p:sp>
      <p:sp>
        <p:nvSpPr>
          <p:cNvPr id="10" name="Shape 8"/>
          <p:cNvSpPr/>
          <p:nvPr/>
        </p:nvSpPr>
        <p:spPr>
          <a:xfrm>
            <a:off x="9509760" y="3566160"/>
            <a:ext cx="1737360" cy="457200"/>
          </a:xfrm>
          <a:prstGeom prst="line">
            <a:avLst/>
          </a:prstGeom>
          <a:noFill/>
          <a:ln w="12700">
            <a:solidFill>
              <a:srgbClr val="3A6C8C">
                <a:alpha val="55000"/>
              </a:srgbClr>
            </a:solidFill>
            <a:prstDash val="solid"/>
          </a:ln>
        </p:spPr>
        <p:txBody>
          <a:bodyPr/>
          <a:lstStyle/>
          <a:p>
            <a:endParaRPr lang="en-US"/>
          </a:p>
        </p:txBody>
      </p:sp>
      <p:sp>
        <p:nvSpPr>
          <p:cNvPr id="11" name="Shape 9"/>
          <p:cNvSpPr/>
          <p:nvPr/>
        </p:nvSpPr>
        <p:spPr>
          <a:xfrm>
            <a:off x="11064240" y="1463040"/>
            <a:ext cx="182880" cy="2103120"/>
          </a:xfrm>
          <a:prstGeom prst="line">
            <a:avLst/>
          </a:prstGeom>
          <a:noFill/>
          <a:ln w="12700">
            <a:solidFill>
              <a:srgbClr val="3A6C8C">
                <a:alpha val="55000"/>
              </a:srgbClr>
            </a:solidFill>
            <a:prstDash val="solid"/>
          </a:ln>
        </p:spPr>
        <p:txBody>
          <a:bodyPr/>
          <a:lstStyle/>
          <a:p>
            <a:endParaRPr lang="en-US"/>
          </a:p>
        </p:txBody>
      </p:sp>
      <p:sp>
        <p:nvSpPr>
          <p:cNvPr id="12" name="Shape 10"/>
          <p:cNvSpPr/>
          <p:nvPr/>
        </p:nvSpPr>
        <p:spPr>
          <a:xfrm>
            <a:off x="7863840" y="3566160"/>
            <a:ext cx="1645920" cy="457200"/>
          </a:xfrm>
          <a:prstGeom prst="line">
            <a:avLst/>
          </a:prstGeom>
          <a:noFill/>
          <a:ln w="12700">
            <a:solidFill>
              <a:srgbClr val="3A6C8C">
                <a:alpha val="55000"/>
              </a:srgbClr>
            </a:solidFill>
            <a:prstDash val="solid"/>
          </a:ln>
        </p:spPr>
        <p:txBody>
          <a:bodyPr/>
          <a:lstStyle/>
          <a:p>
            <a:endParaRPr lang="en-US"/>
          </a:p>
        </p:txBody>
      </p:sp>
      <p:sp>
        <p:nvSpPr>
          <p:cNvPr id="13" name="Shape 11"/>
          <p:cNvSpPr/>
          <p:nvPr/>
        </p:nvSpPr>
        <p:spPr>
          <a:xfrm>
            <a:off x="7863840" y="3566160"/>
            <a:ext cx="640080" cy="1371600"/>
          </a:xfrm>
          <a:prstGeom prst="line">
            <a:avLst/>
          </a:prstGeom>
          <a:noFill/>
          <a:ln w="12700">
            <a:solidFill>
              <a:srgbClr val="3A6C8C">
                <a:alpha val="55000"/>
              </a:srgbClr>
            </a:solidFill>
            <a:prstDash val="solid"/>
          </a:ln>
        </p:spPr>
        <p:txBody>
          <a:bodyPr/>
          <a:lstStyle/>
          <a:p>
            <a:endParaRPr lang="en-US"/>
          </a:p>
        </p:txBody>
      </p:sp>
      <p:sp>
        <p:nvSpPr>
          <p:cNvPr id="14" name="Shape 12"/>
          <p:cNvSpPr/>
          <p:nvPr/>
        </p:nvSpPr>
        <p:spPr>
          <a:xfrm>
            <a:off x="9509760" y="4023360"/>
            <a:ext cx="731520" cy="1371600"/>
          </a:xfrm>
          <a:prstGeom prst="line">
            <a:avLst/>
          </a:prstGeom>
          <a:noFill/>
          <a:ln w="12700">
            <a:solidFill>
              <a:srgbClr val="3A6C8C">
                <a:alpha val="55000"/>
              </a:srgbClr>
            </a:solidFill>
            <a:prstDash val="solid"/>
          </a:ln>
        </p:spPr>
        <p:txBody>
          <a:bodyPr/>
          <a:lstStyle/>
          <a:p>
            <a:endParaRPr lang="en-US"/>
          </a:p>
        </p:txBody>
      </p:sp>
      <p:sp>
        <p:nvSpPr>
          <p:cNvPr id="15" name="Shape 13"/>
          <p:cNvSpPr/>
          <p:nvPr/>
        </p:nvSpPr>
        <p:spPr>
          <a:xfrm>
            <a:off x="11247120" y="3566160"/>
            <a:ext cx="274320" cy="1280160"/>
          </a:xfrm>
          <a:prstGeom prst="line">
            <a:avLst/>
          </a:prstGeom>
          <a:noFill/>
          <a:ln w="12700">
            <a:solidFill>
              <a:srgbClr val="3A6C8C">
                <a:alpha val="55000"/>
              </a:srgbClr>
            </a:solidFill>
            <a:prstDash val="solid"/>
          </a:ln>
        </p:spPr>
        <p:txBody>
          <a:bodyPr/>
          <a:lstStyle/>
          <a:p>
            <a:endParaRPr lang="en-US"/>
          </a:p>
        </p:txBody>
      </p:sp>
      <p:sp>
        <p:nvSpPr>
          <p:cNvPr id="16" name="Shape 14"/>
          <p:cNvSpPr/>
          <p:nvPr/>
        </p:nvSpPr>
        <p:spPr>
          <a:xfrm>
            <a:off x="8503920" y="4937760"/>
            <a:ext cx="1737360" cy="457200"/>
          </a:xfrm>
          <a:prstGeom prst="line">
            <a:avLst/>
          </a:prstGeom>
          <a:noFill/>
          <a:ln w="12700">
            <a:solidFill>
              <a:srgbClr val="3A6C8C">
                <a:alpha val="55000"/>
              </a:srgbClr>
            </a:solidFill>
            <a:prstDash val="solid"/>
          </a:ln>
        </p:spPr>
        <p:txBody>
          <a:bodyPr/>
          <a:lstStyle/>
          <a:p>
            <a:endParaRPr lang="en-US"/>
          </a:p>
        </p:txBody>
      </p:sp>
      <p:sp>
        <p:nvSpPr>
          <p:cNvPr id="17" name="Shape 15"/>
          <p:cNvSpPr/>
          <p:nvPr/>
        </p:nvSpPr>
        <p:spPr>
          <a:xfrm>
            <a:off x="10241280" y="4846320"/>
            <a:ext cx="1280160" cy="548640"/>
          </a:xfrm>
          <a:prstGeom prst="line">
            <a:avLst/>
          </a:prstGeom>
          <a:noFill/>
          <a:ln w="12700">
            <a:solidFill>
              <a:srgbClr val="3A6C8C">
                <a:alpha val="55000"/>
              </a:srgbClr>
            </a:solidFill>
            <a:prstDash val="solid"/>
          </a:ln>
        </p:spPr>
        <p:txBody>
          <a:bodyPr/>
          <a:lstStyle/>
          <a:p>
            <a:endParaRPr lang="en-US"/>
          </a:p>
        </p:txBody>
      </p:sp>
      <p:sp>
        <p:nvSpPr>
          <p:cNvPr id="18" name="Shape 16"/>
          <p:cNvSpPr/>
          <p:nvPr/>
        </p:nvSpPr>
        <p:spPr>
          <a:xfrm flipV="1">
            <a:off x="7680960" y="4937760"/>
            <a:ext cx="822960" cy="1005840"/>
          </a:xfrm>
          <a:prstGeom prst="line">
            <a:avLst/>
          </a:prstGeom>
          <a:noFill/>
          <a:ln w="12700">
            <a:solidFill>
              <a:srgbClr val="3A6C8C">
                <a:alpha val="55000"/>
              </a:srgbClr>
            </a:solidFill>
            <a:prstDash val="solid"/>
          </a:ln>
        </p:spPr>
        <p:txBody>
          <a:bodyPr/>
          <a:lstStyle/>
          <a:p>
            <a:endParaRPr lang="en-US"/>
          </a:p>
        </p:txBody>
      </p:sp>
      <p:sp>
        <p:nvSpPr>
          <p:cNvPr id="19" name="Shape 17"/>
          <p:cNvSpPr/>
          <p:nvPr/>
        </p:nvSpPr>
        <p:spPr>
          <a:xfrm flipV="1">
            <a:off x="9692640" y="5394960"/>
            <a:ext cx="548640" cy="822960"/>
          </a:xfrm>
          <a:prstGeom prst="line">
            <a:avLst/>
          </a:prstGeom>
          <a:noFill/>
          <a:ln w="12700">
            <a:solidFill>
              <a:srgbClr val="3A6C8C">
                <a:alpha val="55000"/>
              </a:srgbClr>
            </a:solidFill>
            <a:prstDash val="solid"/>
          </a:ln>
        </p:spPr>
        <p:txBody>
          <a:bodyPr/>
          <a:lstStyle/>
          <a:p>
            <a:endParaRPr lang="en-US"/>
          </a:p>
        </p:txBody>
      </p:sp>
      <p:sp>
        <p:nvSpPr>
          <p:cNvPr id="20" name="Shape 18"/>
          <p:cNvSpPr/>
          <p:nvPr/>
        </p:nvSpPr>
        <p:spPr>
          <a:xfrm flipV="1">
            <a:off x="9692640" y="4846320"/>
            <a:ext cx="1828800" cy="1371600"/>
          </a:xfrm>
          <a:prstGeom prst="line">
            <a:avLst/>
          </a:prstGeom>
          <a:noFill/>
          <a:ln w="12700">
            <a:solidFill>
              <a:srgbClr val="3A6C8C">
                <a:alpha val="55000"/>
              </a:srgbClr>
            </a:solidFill>
            <a:prstDash val="solid"/>
          </a:ln>
        </p:spPr>
        <p:txBody>
          <a:bodyPr/>
          <a:lstStyle/>
          <a:p>
            <a:endParaRPr lang="en-US"/>
          </a:p>
        </p:txBody>
      </p:sp>
      <p:sp>
        <p:nvSpPr>
          <p:cNvPr id="21" name="Shape 19"/>
          <p:cNvSpPr/>
          <p:nvPr/>
        </p:nvSpPr>
        <p:spPr>
          <a:xfrm>
            <a:off x="8174736" y="950976"/>
            <a:ext cx="109728" cy="109728"/>
          </a:xfrm>
          <a:prstGeom prst="ellipse">
            <a:avLst/>
          </a:prstGeom>
          <a:solidFill>
            <a:srgbClr val="2AAFD6">
              <a:alpha val="95000"/>
            </a:srgbClr>
          </a:solidFill>
          <a:ln/>
        </p:spPr>
        <p:txBody>
          <a:bodyPr/>
          <a:lstStyle/>
          <a:p>
            <a:endParaRPr lang="en-US"/>
          </a:p>
        </p:txBody>
      </p:sp>
      <p:sp>
        <p:nvSpPr>
          <p:cNvPr id="22" name="Shape 20"/>
          <p:cNvSpPr/>
          <p:nvPr/>
        </p:nvSpPr>
        <p:spPr>
          <a:xfrm>
            <a:off x="9660636" y="699516"/>
            <a:ext cx="64008" cy="64008"/>
          </a:xfrm>
          <a:prstGeom prst="ellipse">
            <a:avLst/>
          </a:prstGeom>
          <a:solidFill>
            <a:srgbClr val="3A6C8C">
              <a:alpha val="75000"/>
            </a:srgbClr>
          </a:solidFill>
          <a:ln/>
        </p:spPr>
        <p:txBody>
          <a:bodyPr/>
          <a:lstStyle/>
          <a:p>
            <a:endParaRPr lang="en-US"/>
          </a:p>
        </p:txBody>
      </p:sp>
      <p:sp>
        <p:nvSpPr>
          <p:cNvPr id="23" name="Shape 21"/>
          <p:cNvSpPr/>
          <p:nvPr/>
        </p:nvSpPr>
        <p:spPr>
          <a:xfrm>
            <a:off x="11032236" y="1431036"/>
            <a:ext cx="64008" cy="64008"/>
          </a:xfrm>
          <a:prstGeom prst="ellipse">
            <a:avLst/>
          </a:prstGeom>
          <a:solidFill>
            <a:srgbClr val="3A6C8C">
              <a:alpha val="75000"/>
            </a:srgbClr>
          </a:solidFill>
          <a:ln/>
        </p:spPr>
        <p:txBody>
          <a:bodyPr/>
          <a:lstStyle/>
          <a:p>
            <a:endParaRPr lang="en-US"/>
          </a:p>
        </p:txBody>
      </p:sp>
      <p:sp>
        <p:nvSpPr>
          <p:cNvPr id="24" name="Shape 22"/>
          <p:cNvSpPr/>
          <p:nvPr/>
        </p:nvSpPr>
        <p:spPr>
          <a:xfrm>
            <a:off x="8746236" y="2345436"/>
            <a:ext cx="64008" cy="64008"/>
          </a:xfrm>
          <a:prstGeom prst="ellipse">
            <a:avLst/>
          </a:prstGeom>
          <a:solidFill>
            <a:srgbClr val="3A6C8C">
              <a:alpha val="75000"/>
            </a:srgbClr>
          </a:solidFill>
          <a:ln/>
        </p:spPr>
        <p:txBody>
          <a:bodyPr/>
          <a:lstStyle/>
          <a:p>
            <a:endParaRPr lang="en-US"/>
          </a:p>
        </p:txBody>
      </p:sp>
      <p:sp>
        <p:nvSpPr>
          <p:cNvPr id="25" name="Shape 23"/>
          <p:cNvSpPr/>
          <p:nvPr/>
        </p:nvSpPr>
        <p:spPr>
          <a:xfrm>
            <a:off x="10369296" y="2596896"/>
            <a:ext cx="109728" cy="109728"/>
          </a:xfrm>
          <a:prstGeom prst="ellipse">
            <a:avLst/>
          </a:prstGeom>
          <a:solidFill>
            <a:srgbClr val="2AAFD6">
              <a:alpha val="95000"/>
            </a:srgbClr>
          </a:solidFill>
          <a:ln/>
        </p:spPr>
        <p:txBody>
          <a:bodyPr/>
          <a:lstStyle/>
          <a:p>
            <a:endParaRPr lang="en-US"/>
          </a:p>
        </p:txBody>
      </p:sp>
      <p:sp>
        <p:nvSpPr>
          <p:cNvPr id="26" name="Shape 24"/>
          <p:cNvSpPr/>
          <p:nvPr/>
        </p:nvSpPr>
        <p:spPr>
          <a:xfrm>
            <a:off x="7831836" y="3534156"/>
            <a:ext cx="64008" cy="64008"/>
          </a:xfrm>
          <a:prstGeom prst="ellipse">
            <a:avLst/>
          </a:prstGeom>
          <a:solidFill>
            <a:srgbClr val="3A6C8C">
              <a:alpha val="75000"/>
            </a:srgbClr>
          </a:solidFill>
          <a:ln/>
        </p:spPr>
        <p:txBody>
          <a:bodyPr/>
          <a:lstStyle/>
          <a:p>
            <a:endParaRPr lang="en-US"/>
          </a:p>
        </p:txBody>
      </p:sp>
      <p:sp>
        <p:nvSpPr>
          <p:cNvPr id="27" name="Shape 25"/>
          <p:cNvSpPr/>
          <p:nvPr/>
        </p:nvSpPr>
        <p:spPr>
          <a:xfrm>
            <a:off x="9477756" y="3991356"/>
            <a:ext cx="64008" cy="64008"/>
          </a:xfrm>
          <a:prstGeom prst="ellipse">
            <a:avLst/>
          </a:prstGeom>
          <a:solidFill>
            <a:srgbClr val="3A6C8C">
              <a:alpha val="75000"/>
            </a:srgbClr>
          </a:solidFill>
          <a:ln/>
        </p:spPr>
        <p:txBody>
          <a:bodyPr/>
          <a:lstStyle/>
          <a:p>
            <a:endParaRPr lang="en-US"/>
          </a:p>
        </p:txBody>
      </p:sp>
      <p:sp>
        <p:nvSpPr>
          <p:cNvPr id="28" name="Shape 26"/>
          <p:cNvSpPr/>
          <p:nvPr/>
        </p:nvSpPr>
        <p:spPr>
          <a:xfrm>
            <a:off x="11215116" y="3534156"/>
            <a:ext cx="64008" cy="64008"/>
          </a:xfrm>
          <a:prstGeom prst="ellipse">
            <a:avLst/>
          </a:prstGeom>
          <a:solidFill>
            <a:srgbClr val="3A6C8C">
              <a:alpha val="75000"/>
            </a:srgbClr>
          </a:solidFill>
          <a:ln/>
        </p:spPr>
        <p:txBody>
          <a:bodyPr/>
          <a:lstStyle/>
          <a:p>
            <a:endParaRPr lang="en-US"/>
          </a:p>
        </p:txBody>
      </p:sp>
      <p:sp>
        <p:nvSpPr>
          <p:cNvPr id="29" name="Shape 27"/>
          <p:cNvSpPr/>
          <p:nvPr/>
        </p:nvSpPr>
        <p:spPr>
          <a:xfrm>
            <a:off x="8449056" y="4882896"/>
            <a:ext cx="109728" cy="109728"/>
          </a:xfrm>
          <a:prstGeom prst="ellipse">
            <a:avLst/>
          </a:prstGeom>
          <a:solidFill>
            <a:srgbClr val="2AAFD6">
              <a:alpha val="95000"/>
            </a:srgbClr>
          </a:solidFill>
          <a:ln/>
        </p:spPr>
        <p:txBody>
          <a:bodyPr/>
          <a:lstStyle/>
          <a:p>
            <a:endParaRPr lang="en-US"/>
          </a:p>
        </p:txBody>
      </p:sp>
      <p:sp>
        <p:nvSpPr>
          <p:cNvPr id="30" name="Shape 28"/>
          <p:cNvSpPr/>
          <p:nvPr/>
        </p:nvSpPr>
        <p:spPr>
          <a:xfrm>
            <a:off x="10209276" y="5362956"/>
            <a:ext cx="64008" cy="64008"/>
          </a:xfrm>
          <a:prstGeom prst="ellipse">
            <a:avLst/>
          </a:prstGeom>
          <a:solidFill>
            <a:srgbClr val="3A6C8C">
              <a:alpha val="75000"/>
            </a:srgbClr>
          </a:solidFill>
          <a:ln/>
        </p:spPr>
        <p:txBody>
          <a:bodyPr/>
          <a:lstStyle/>
          <a:p>
            <a:endParaRPr lang="en-US"/>
          </a:p>
        </p:txBody>
      </p:sp>
      <p:sp>
        <p:nvSpPr>
          <p:cNvPr id="31" name="Shape 29"/>
          <p:cNvSpPr/>
          <p:nvPr/>
        </p:nvSpPr>
        <p:spPr>
          <a:xfrm>
            <a:off x="11489436" y="4814316"/>
            <a:ext cx="64008" cy="64008"/>
          </a:xfrm>
          <a:prstGeom prst="ellipse">
            <a:avLst/>
          </a:prstGeom>
          <a:solidFill>
            <a:srgbClr val="3A6C8C">
              <a:alpha val="75000"/>
            </a:srgbClr>
          </a:solidFill>
          <a:ln/>
        </p:spPr>
        <p:txBody>
          <a:bodyPr/>
          <a:lstStyle/>
          <a:p>
            <a:endParaRPr lang="en-US"/>
          </a:p>
        </p:txBody>
      </p:sp>
      <p:sp>
        <p:nvSpPr>
          <p:cNvPr id="32" name="Shape 30"/>
          <p:cNvSpPr/>
          <p:nvPr/>
        </p:nvSpPr>
        <p:spPr>
          <a:xfrm>
            <a:off x="7648956" y="5911596"/>
            <a:ext cx="64008" cy="64008"/>
          </a:xfrm>
          <a:prstGeom prst="ellipse">
            <a:avLst/>
          </a:prstGeom>
          <a:solidFill>
            <a:srgbClr val="3A6C8C">
              <a:alpha val="75000"/>
            </a:srgbClr>
          </a:solidFill>
          <a:ln/>
        </p:spPr>
        <p:txBody>
          <a:bodyPr/>
          <a:lstStyle/>
          <a:p>
            <a:endParaRPr lang="en-US"/>
          </a:p>
        </p:txBody>
      </p:sp>
      <p:sp>
        <p:nvSpPr>
          <p:cNvPr id="33" name="Shape 31"/>
          <p:cNvSpPr/>
          <p:nvPr/>
        </p:nvSpPr>
        <p:spPr>
          <a:xfrm>
            <a:off x="9637776" y="6163056"/>
            <a:ext cx="109728" cy="109728"/>
          </a:xfrm>
          <a:prstGeom prst="ellipse">
            <a:avLst/>
          </a:prstGeom>
          <a:solidFill>
            <a:srgbClr val="2AAFD6">
              <a:alpha val="95000"/>
            </a:srgbClr>
          </a:solidFill>
          <a:ln/>
        </p:spPr>
        <p:txBody>
          <a:bodyPr/>
          <a:lstStyle/>
          <a:p>
            <a:endParaRPr lang="en-US"/>
          </a:p>
        </p:txBody>
      </p:sp>
      <p:sp>
        <p:nvSpPr>
          <p:cNvPr id="34" name="Text 32"/>
          <p:cNvSpPr/>
          <p:nvPr/>
        </p:nvSpPr>
        <p:spPr>
          <a:xfrm>
            <a:off x="685800" y="2331720"/>
            <a:ext cx="6949440" cy="1920240"/>
          </a:xfrm>
          <a:prstGeom prst="rect">
            <a:avLst/>
          </a:prstGeom>
          <a:noFill/>
          <a:ln/>
        </p:spPr>
        <p:txBody>
          <a:bodyPr wrap="square" lIns="0" tIns="0" rIns="0" bIns="0" rtlCol="0" anchor="ctr"/>
          <a:lstStyle/>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Digital System</a:t>
            </a:r>
            <a:endParaRPr lang="en-US" sz="4600" dirty="0"/>
          </a:p>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Design</a:t>
            </a:r>
            <a:endParaRPr lang="en-US" sz="4600" dirty="0"/>
          </a:p>
        </p:txBody>
      </p:sp>
      <p:sp>
        <p:nvSpPr>
          <p:cNvPr id="35" name="Shape 33"/>
          <p:cNvSpPr/>
          <p:nvPr/>
        </p:nvSpPr>
        <p:spPr>
          <a:xfrm>
            <a:off x="731520" y="4160520"/>
            <a:ext cx="502920" cy="41148"/>
          </a:xfrm>
          <a:prstGeom prst="rect">
            <a:avLst/>
          </a:prstGeom>
          <a:solidFill>
            <a:srgbClr val="2AAFD6"/>
          </a:solidFill>
          <a:ln/>
        </p:spPr>
        <p:txBody>
          <a:bodyPr/>
          <a:lstStyle/>
          <a:p>
            <a:endParaRPr lang="en-US"/>
          </a:p>
        </p:txBody>
      </p:sp>
      <p:sp>
        <p:nvSpPr>
          <p:cNvPr id="36" name="Text 34"/>
          <p:cNvSpPr/>
          <p:nvPr/>
        </p:nvSpPr>
        <p:spPr>
          <a:xfrm>
            <a:off x="685800" y="4343400"/>
            <a:ext cx="6400800" cy="457200"/>
          </a:xfrm>
          <a:prstGeom prst="rect">
            <a:avLst/>
          </a:prstGeom>
          <a:noFill/>
          <a:ln/>
        </p:spPr>
        <p:txBody>
          <a:bodyPr wrap="square" lIns="0" tIns="0" rIns="0" bIns="0" rtlCol="0" anchor="ctr"/>
          <a:lstStyle/>
          <a:p>
            <a:pPr marL="0" indent="0">
              <a:buNone/>
            </a:pPr>
            <a:r>
              <a:rPr lang="en-US" sz="1900" dirty="0">
                <a:solidFill>
                  <a:srgbClr val="CFE6F0"/>
                </a:solidFill>
                <a:latin typeface="Calibri" pitchFamily="34" charset="0"/>
                <a:ea typeface="Calibri" pitchFamily="34" charset="-122"/>
                <a:cs typeface="Calibri" pitchFamily="34" charset="-120"/>
              </a:rPr>
              <a:t>Dr. Nazanin Ghasemian</a:t>
            </a:r>
            <a:endParaRPr lang="en-US" sz="1900" dirty="0"/>
          </a:p>
        </p:txBody>
      </p:sp>
      <p:sp>
        <p:nvSpPr>
          <p:cNvPr id="37" name="Text 35"/>
          <p:cNvSpPr/>
          <p:nvPr/>
        </p:nvSpPr>
        <p:spPr>
          <a:xfrm>
            <a:off x="685800" y="4800600"/>
            <a:ext cx="6400800" cy="411480"/>
          </a:xfrm>
          <a:prstGeom prst="rect">
            <a:avLst/>
          </a:prstGeom>
          <a:noFill/>
          <a:ln/>
        </p:spPr>
        <p:txBody>
          <a:bodyPr wrap="square" lIns="0" tIns="0" rIns="0" bIns="0" rtlCol="0" anchor="ctr"/>
          <a:lstStyle/>
          <a:p>
            <a:pPr marL="0" indent="0">
              <a:buNone/>
            </a:pPr>
            <a:r>
              <a:rPr lang="en-US" sz="1450" kern="0" spc="100" dirty="0">
                <a:solidFill>
                  <a:srgbClr val="3A6C8C"/>
                </a:solidFill>
                <a:latin typeface="Calibri" pitchFamily="34" charset="0"/>
                <a:ea typeface="Calibri" pitchFamily="34" charset="-122"/>
                <a:cs typeface="Calibri" pitchFamily="34" charset="-120"/>
              </a:rPr>
              <a:t>Fall 2026  ·  Lecture 6</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E91C6-AEE4-39B8-F19A-33E7FB78CA5F}"/>
              </a:ext>
            </a:extLst>
          </p:cNvPr>
          <p:cNvSpPr>
            <a:spLocks noGrp="1"/>
          </p:cNvSpPr>
          <p:nvPr>
            <p:ph type="title"/>
          </p:nvPr>
        </p:nvSpPr>
        <p:spPr/>
        <p:txBody>
          <a:bodyPr/>
          <a:lstStyle/>
          <a:p>
            <a:r>
              <a:rPr lang="en-US" dirty="0">
                <a:solidFill>
                  <a:schemeClr val="accent1"/>
                </a:solidFill>
              </a:rPr>
              <a:t>Last Lecture</a:t>
            </a:r>
          </a:p>
        </p:txBody>
      </p:sp>
      <p:sp>
        <p:nvSpPr>
          <p:cNvPr id="3" name="Content Placeholder 2">
            <a:extLst>
              <a:ext uri="{FF2B5EF4-FFF2-40B4-BE49-F238E27FC236}">
                <a16:creationId xmlns:a16="http://schemas.microsoft.com/office/drawing/2014/main" id="{4B832DBD-8674-4236-D35F-8483FB7E3A28}"/>
              </a:ext>
            </a:extLst>
          </p:cNvPr>
          <p:cNvSpPr>
            <a:spLocks noGrp="1"/>
          </p:cNvSpPr>
          <p:nvPr>
            <p:ph idx="1"/>
          </p:nvPr>
        </p:nvSpPr>
        <p:spPr>
          <a:xfrm>
            <a:off x="838199" y="1825625"/>
            <a:ext cx="8541327" cy="4351338"/>
          </a:xfrm>
        </p:spPr>
        <p:txBody>
          <a:bodyPr/>
          <a:lstStyle/>
          <a:p>
            <a:pPr>
              <a:lnSpc>
                <a:spcPct val="150000"/>
              </a:lnSpc>
            </a:pPr>
            <a:r>
              <a:rPr lang="en-US" dirty="0">
                <a:solidFill>
                  <a:schemeClr val="accent1"/>
                </a:solidFill>
              </a:rPr>
              <a:t>FSM design</a:t>
            </a:r>
          </a:p>
          <a:p>
            <a:pPr>
              <a:lnSpc>
                <a:spcPct val="150000"/>
              </a:lnSpc>
            </a:pPr>
            <a:r>
              <a:rPr lang="en-US" dirty="0">
                <a:solidFill>
                  <a:schemeClr val="accent1"/>
                </a:solidFill>
              </a:rPr>
              <a:t>Mealy and Moore machines</a:t>
            </a:r>
          </a:p>
          <a:p>
            <a:pPr>
              <a:lnSpc>
                <a:spcPct val="150000"/>
              </a:lnSpc>
            </a:pPr>
            <a:r>
              <a:rPr lang="en-US" dirty="0">
                <a:solidFill>
                  <a:schemeClr val="accent1"/>
                </a:solidFill>
              </a:rPr>
              <a:t>State diagram and state tables</a:t>
            </a:r>
          </a:p>
        </p:txBody>
      </p:sp>
      <p:sp>
        <p:nvSpPr>
          <p:cNvPr id="4" name="Slide Number Placeholder 3">
            <a:extLst>
              <a:ext uri="{FF2B5EF4-FFF2-40B4-BE49-F238E27FC236}">
                <a16:creationId xmlns:a16="http://schemas.microsoft.com/office/drawing/2014/main" id="{3C418EBE-92B2-98C1-C85E-310D3B6C3C0A}"/>
              </a:ext>
            </a:extLst>
          </p:cNvPr>
          <p:cNvSpPr>
            <a:spLocks noGrp="1"/>
          </p:cNvSpPr>
          <p:nvPr>
            <p:ph type="sldNum" sz="quarter" idx="12"/>
          </p:nvPr>
        </p:nvSpPr>
        <p:spPr/>
        <p:txBody>
          <a:bodyPr/>
          <a:lstStyle/>
          <a:p>
            <a:fld id="{B371FB23-F5EE-40F0-B170-9EA725515109}" type="slidenum">
              <a:rPr lang="en-US" smtClean="0"/>
              <a:t>2</a:t>
            </a:fld>
            <a:endParaRPr lang="en-US"/>
          </a:p>
        </p:txBody>
      </p:sp>
    </p:spTree>
    <p:extLst>
      <p:ext uri="{BB962C8B-B14F-4D97-AF65-F5344CB8AC3E}">
        <p14:creationId xmlns:p14="http://schemas.microsoft.com/office/powerpoint/2010/main" val="1563707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AAF85-F0E4-ADE0-4414-A7565BA74DA2}"/>
              </a:ext>
            </a:extLst>
          </p:cNvPr>
          <p:cNvSpPr>
            <a:spLocks noGrp="1"/>
          </p:cNvSpPr>
          <p:nvPr>
            <p:ph type="title"/>
          </p:nvPr>
        </p:nvSpPr>
        <p:spPr/>
        <p:txBody>
          <a:bodyPr/>
          <a:lstStyle/>
          <a:p>
            <a:r>
              <a:rPr lang="en-US" dirty="0">
                <a:solidFill>
                  <a:schemeClr val="accent1"/>
                </a:solidFill>
              </a:rPr>
              <a:t>Design Example</a:t>
            </a:r>
          </a:p>
        </p:txBody>
      </p:sp>
      <p:sp>
        <p:nvSpPr>
          <p:cNvPr id="3" name="Content Placeholder 2">
            <a:extLst>
              <a:ext uri="{FF2B5EF4-FFF2-40B4-BE49-F238E27FC236}">
                <a16:creationId xmlns:a16="http://schemas.microsoft.com/office/drawing/2014/main" id="{23E7FB2A-6133-4363-6FAD-6E6987346328}"/>
              </a:ext>
            </a:extLst>
          </p:cNvPr>
          <p:cNvSpPr>
            <a:spLocks noGrp="1"/>
          </p:cNvSpPr>
          <p:nvPr>
            <p:ph idx="1"/>
          </p:nvPr>
        </p:nvSpPr>
        <p:spPr>
          <a:xfrm>
            <a:off x="838200" y="1825625"/>
            <a:ext cx="5807149" cy="4351338"/>
          </a:xfrm>
        </p:spPr>
        <p:txBody>
          <a:bodyPr>
            <a:normAutofit/>
          </a:bodyPr>
          <a:lstStyle/>
          <a:p>
            <a:pPr marL="0" indent="0" algn="l">
              <a:lnSpc>
                <a:spcPct val="150000"/>
              </a:lnSpc>
              <a:buNone/>
            </a:pPr>
            <a:r>
              <a:rPr lang="en-US" dirty="0">
                <a:solidFill>
                  <a:srgbClr val="002060"/>
                </a:solidFill>
                <a:latin typeface="+mj-lt"/>
              </a:rPr>
              <a:t>Suppose we wish to design a circuit that detects a sequence of three or more consecutive 1’s in a string of bits coming through an input line.</a:t>
            </a:r>
          </a:p>
          <a:p>
            <a:pPr marL="0" indent="0" algn="l">
              <a:lnSpc>
                <a:spcPct val="150000"/>
              </a:lnSpc>
              <a:buNone/>
            </a:pPr>
            <a:r>
              <a:rPr lang="en-US" dirty="0">
                <a:solidFill>
                  <a:srgbClr val="002060"/>
                </a:solidFill>
                <a:latin typeface="+mj-lt"/>
              </a:rPr>
              <a:t> </a:t>
            </a:r>
            <a:br>
              <a:rPr lang="en-US" dirty="0"/>
            </a:br>
            <a:endParaRPr lang="en-US" dirty="0">
              <a:solidFill>
                <a:srgbClr val="002060"/>
              </a:solidFill>
              <a:latin typeface="+mj-lt"/>
            </a:endParaRPr>
          </a:p>
        </p:txBody>
      </p:sp>
      <p:sp>
        <p:nvSpPr>
          <p:cNvPr id="4" name="Slide Number Placeholder 3">
            <a:extLst>
              <a:ext uri="{FF2B5EF4-FFF2-40B4-BE49-F238E27FC236}">
                <a16:creationId xmlns:a16="http://schemas.microsoft.com/office/drawing/2014/main" id="{7851A2F7-4600-CB5A-D189-3F089CD21AC1}"/>
              </a:ext>
            </a:extLst>
          </p:cNvPr>
          <p:cNvSpPr>
            <a:spLocks noGrp="1"/>
          </p:cNvSpPr>
          <p:nvPr>
            <p:ph type="sldNum" sz="quarter" idx="12"/>
          </p:nvPr>
        </p:nvSpPr>
        <p:spPr/>
        <p:txBody>
          <a:bodyPr/>
          <a:lstStyle/>
          <a:p>
            <a:fld id="{B371FB23-F5EE-40F0-B170-9EA725515109}" type="slidenum">
              <a:rPr lang="en-US" smtClean="0"/>
              <a:t>3</a:t>
            </a:fld>
            <a:endParaRPr lang="en-US"/>
          </a:p>
        </p:txBody>
      </p:sp>
      <p:pic>
        <p:nvPicPr>
          <p:cNvPr id="6" name="Picture 5">
            <a:extLst>
              <a:ext uri="{FF2B5EF4-FFF2-40B4-BE49-F238E27FC236}">
                <a16:creationId xmlns:a16="http://schemas.microsoft.com/office/drawing/2014/main" id="{6E0239C9-2C5B-A500-DC43-626FD1D3ECF7}"/>
              </a:ext>
            </a:extLst>
          </p:cNvPr>
          <p:cNvPicPr>
            <a:picLocks noChangeAspect="1"/>
          </p:cNvPicPr>
          <p:nvPr/>
        </p:nvPicPr>
        <p:blipFill>
          <a:blip r:embed="rId3"/>
          <a:stretch>
            <a:fillRect/>
          </a:stretch>
        </p:blipFill>
        <p:spPr>
          <a:xfrm>
            <a:off x="7399463" y="1305995"/>
            <a:ext cx="3775355" cy="4678479"/>
          </a:xfrm>
          <a:prstGeom prst="rect">
            <a:avLst/>
          </a:prstGeom>
        </p:spPr>
      </p:pic>
    </p:spTree>
    <p:extLst>
      <p:ext uri="{BB962C8B-B14F-4D97-AF65-F5344CB8AC3E}">
        <p14:creationId xmlns:p14="http://schemas.microsoft.com/office/powerpoint/2010/main" val="213267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3881-7C38-F044-AF77-6632137E2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E2974-AF7A-7F31-F169-AFA0B46E0C81}"/>
              </a:ext>
            </a:extLst>
          </p:cNvPr>
          <p:cNvSpPr>
            <a:spLocks noGrp="1"/>
          </p:cNvSpPr>
          <p:nvPr>
            <p:ph type="title"/>
          </p:nvPr>
        </p:nvSpPr>
        <p:spPr/>
        <p:txBody>
          <a:bodyPr/>
          <a:lstStyle/>
          <a:p>
            <a:r>
              <a:rPr lang="en-US" dirty="0">
                <a:solidFill>
                  <a:schemeClr val="accent1"/>
                </a:solidFill>
              </a:rPr>
              <a:t>Design Example</a:t>
            </a:r>
          </a:p>
        </p:txBody>
      </p:sp>
      <p:sp>
        <p:nvSpPr>
          <p:cNvPr id="3" name="Content Placeholder 2">
            <a:extLst>
              <a:ext uri="{FF2B5EF4-FFF2-40B4-BE49-F238E27FC236}">
                <a16:creationId xmlns:a16="http://schemas.microsoft.com/office/drawing/2014/main" id="{7E7CB40B-A43C-38A4-E254-12974F4F0508}"/>
              </a:ext>
            </a:extLst>
          </p:cNvPr>
          <p:cNvSpPr>
            <a:spLocks noGrp="1"/>
          </p:cNvSpPr>
          <p:nvPr>
            <p:ph idx="1"/>
          </p:nvPr>
        </p:nvSpPr>
        <p:spPr>
          <a:xfrm>
            <a:off x="838200" y="1825625"/>
            <a:ext cx="10093036" cy="4351338"/>
          </a:xfrm>
        </p:spPr>
        <p:txBody>
          <a:bodyPr>
            <a:normAutofit/>
          </a:bodyPr>
          <a:lstStyle/>
          <a:p>
            <a:pPr marL="0" indent="0">
              <a:lnSpc>
                <a:spcPct val="150000"/>
              </a:lnSpc>
              <a:buNone/>
            </a:pPr>
            <a:r>
              <a:rPr lang="en-US" dirty="0">
                <a:solidFill>
                  <a:srgbClr val="002060"/>
                </a:solidFill>
                <a:latin typeface="+mj-lt"/>
              </a:rPr>
              <a:t>Two ways to design the circuit:</a:t>
            </a:r>
          </a:p>
          <a:p>
            <a:pPr lvl="1">
              <a:lnSpc>
                <a:spcPct val="150000"/>
              </a:lnSpc>
            </a:pPr>
            <a:r>
              <a:rPr lang="en-US" b="1" dirty="0">
                <a:solidFill>
                  <a:srgbClr val="002060"/>
                </a:solidFill>
                <a:latin typeface="+mj-lt"/>
              </a:rPr>
              <a:t>Using HDL + synthesis tools</a:t>
            </a:r>
            <a:r>
              <a:rPr lang="en-US" dirty="0">
                <a:solidFill>
                  <a:srgbClr val="002060"/>
                </a:solidFill>
                <a:latin typeface="+mj-lt"/>
              </a:rPr>
              <a:t>: Write an HDL description of the state diagram and use tools to generate the netlist.</a:t>
            </a:r>
          </a:p>
          <a:p>
            <a:pPr lvl="1">
              <a:lnSpc>
                <a:spcPct val="150000"/>
              </a:lnSpc>
            </a:pPr>
            <a:r>
              <a:rPr lang="en-US" b="1" dirty="0">
                <a:solidFill>
                  <a:srgbClr val="002060"/>
                </a:solidFill>
                <a:latin typeface="+mj-lt"/>
              </a:rPr>
              <a:t>By hand</a:t>
            </a:r>
            <a:r>
              <a:rPr lang="en-US" dirty="0">
                <a:solidFill>
                  <a:srgbClr val="002060"/>
                </a:solidFill>
                <a:latin typeface="+mj-lt"/>
              </a:rPr>
              <a:t>: Assign binary codes to the states and create the state table.</a:t>
            </a:r>
          </a:p>
        </p:txBody>
      </p:sp>
      <p:sp>
        <p:nvSpPr>
          <p:cNvPr id="4" name="Slide Number Placeholder 3">
            <a:extLst>
              <a:ext uri="{FF2B5EF4-FFF2-40B4-BE49-F238E27FC236}">
                <a16:creationId xmlns:a16="http://schemas.microsoft.com/office/drawing/2014/main" id="{FC99ED46-156B-62C9-FE57-766A303BFE92}"/>
              </a:ext>
            </a:extLst>
          </p:cNvPr>
          <p:cNvSpPr>
            <a:spLocks noGrp="1"/>
          </p:cNvSpPr>
          <p:nvPr>
            <p:ph type="sldNum" sz="quarter" idx="12"/>
          </p:nvPr>
        </p:nvSpPr>
        <p:spPr/>
        <p:txBody>
          <a:bodyPr/>
          <a:lstStyle/>
          <a:p>
            <a:fld id="{B371FB23-F5EE-40F0-B170-9EA725515109}" type="slidenum">
              <a:rPr lang="en-US" smtClean="0"/>
              <a:t>4</a:t>
            </a:fld>
            <a:endParaRPr lang="en-US"/>
          </a:p>
        </p:txBody>
      </p:sp>
    </p:spTree>
    <p:extLst>
      <p:ext uri="{BB962C8B-B14F-4D97-AF65-F5344CB8AC3E}">
        <p14:creationId xmlns:p14="http://schemas.microsoft.com/office/powerpoint/2010/main" val="1097682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2EAE4-BDC6-8628-C544-B180B2E1E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FECCC-5559-2F21-D66A-54A75E62A519}"/>
              </a:ext>
            </a:extLst>
          </p:cNvPr>
          <p:cNvSpPr>
            <a:spLocks noGrp="1"/>
          </p:cNvSpPr>
          <p:nvPr>
            <p:ph type="title"/>
          </p:nvPr>
        </p:nvSpPr>
        <p:spPr/>
        <p:txBody>
          <a:bodyPr/>
          <a:lstStyle/>
          <a:p>
            <a:r>
              <a:rPr lang="en-US" dirty="0">
                <a:solidFill>
                  <a:schemeClr val="accent1"/>
                </a:solidFill>
              </a:rPr>
              <a:t>Design Example</a:t>
            </a:r>
          </a:p>
        </p:txBody>
      </p:sp>
      <p:sp>
        <p:nvSpPr>
          <p:cNvPr id="3" name="Content Placeholder 2">
            <a:extLst>
              <a:ext uri="{FF2B5EF4-FFF2-40B4-BE49-F238E27FC236}">
                <a16:creationId xmlns:a16="http://schemas.microsoft.com/office/drawing/2014/main" id="{2E0F274F-787C-8469-590C-4E401AB3587A}"/>
              </a:ext>
            </a:extLst>
          </p:cNvPr>
          <p:cNvSpPr>
            <a:spLocks noGrp="1"/>
          </p:cNvSpPr>
          <p:nvPr>
            <p:ph idx="1"/>
          </p:nvPr>
        </p:nvSpPr>
        <p:spPr>
          <a:xfrm>
            <a:off x="2069805" y="1753212"/>
            <a:ext cx="1947530" cy="662394"/>
          </a:xfrm>
        </p:spPr>
        <p:txBody>
          <a:bodyPr>
            <a:normAutofit/>
          </a:bodyPr>
          <a:lstStyle/>
          <a:p>
            <a:pPr marL="0" indent="0">
              <a:lnSpc>
                <a:spcPct val="150000"/>
              </a:lnSpc>
              <a:buNone/>
            </a:pPr>
            <a:r>
              <a:rPr lang="en-US" dirty="0">
                <a:solidFill>
                  <a:srgbClr val="002060"/>
                </a:solidFill>
                <a:latin typeface="+mj-lt"/>
              </a:rPr>
              <a:t>State Table</a:t>
            </a:r>
          </a:p>
        </p:txBody>
      </p:sp>
      <p:sp>
        <p:nvSpPr>
          <p:cNvPr id="4" name="Slide Number Placeholder 3">
            <a:extLst>
              <a:ext uri="{FF2B5EF4-FFF2-40B4-BE49-F238E27FC236}">
                <a16:creationId xmlns:a16="http://schemas.microsoft.com/office/drawing/2014/main" id="{11FA7811-BFAD-F40E-4ADC-E0888EA031D3}"/>
              </a:ext>
            </a:extLst>
          </p:cNvPr>
          <p:cNvSpPr>
            <a:spLocks noGrp="1"/>
          </p:cNvSpPr>
          <p:nvPr>
            <p:ph type="sldNum" sz="quarter" idx="12"/>
          </p:nvPr>
        </p:nvSpPr>
        <p:spPr/>
        <p:txBody>
          <a:bodyPr/>
          <a:lstStyle/>
          <a:p>
            <a:fld id="{B371FB23-F5EE-40F0-B170-9EA725515109}" type="slidenum">
              <a:rPr lang="en-US" smtClean="0"/>
              <a:t>5</a:t>
            </a:fld>
            <a:endParaRPr lang="en-US"/>
          </a:p>
        </p:txBody>
      </p:sp>
      <p:pic>
        <p:nvPicPr>
          <p:cNvPr id="6" name="Picture 5">
            <a:extLst>
              <a:ext uri="{FF2B5EF4-FFF2-40B4-BE49-F238E27FC236}">
                <a16:creationId xmlns:a16="http://schemas.microsoft.com/office/drawing/2014/main" id="{BDF36110-83E1-740E-0504-15649F1D4AAA}"/>
              </a:ext>
            </a:extLst>
          </p:cNvPr>
          <p:cNvPicPr>
            <a:picLocks noChangeAspect="1"/>
          </p:cNvPicPr>
          <p:nvPr/>
        </p:nvPicPr>
        <p:blipFill>
          <a:blip r:embed="rId2"/>
          <a:stretch>
            <a:fillRect/>
          </a:stretch>
        </p:blipFill>
        <p:spPr>
          <a:xfrm>
            <a:off x="1107461" y="2636961"/>
            <a:ext cx="4718299" cy="3209137"/>
          </a:xfrm>
          <a:prstGeom prst="rect">
            <a:avLst/>
          </a:prstGeom>
        </p:spPr>
      </p:pic>
      <p:sp>
        <p:nvSpPr>
          <p:cNvPr id="7" name="Content Placeholder 2">
            <a:extLst>
              <a:ext uri="{FF2B5EF4-FFF2-40B4-BE49-F238E27FC236}">
                <a16:creationId xmlns:a16="http://schemas.microsoft.com/office/drawing/2014/main" id="{5355EBD4-F218-911E-51DF-5F53B9317215}"/>
              </a:ext>
            </a:extLst>
          </p:cNvPr>
          <p:cNvSpPr txBox="1">
            <a:spLocks/>
          </p:cNvSpPr>
          <p:nvPr/>
        </p:nvSpPr>
        <p:spPr>
          <a:xfrm>
            <a:off x="7981129" y="1119567"/>
            <a:ext cx="2141066" cy="66239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dirty="0">
                <a:solidFill>
                  <a:srgbClr val="002060"/>
                </a:solidFill>
                <a:latin typeface="+mj-lt"/>
              </a:rPr>
              <a:t>State Diagram</a:t>
            </a:r>
          </a:p>
        </p:txBody>
      </p:sp>
      <p:pic>
        <p:nvPicPr>
          <p:cNvPr id="8" name="Picture 7">
            <a:extLst>
              <a:ext uri="{FF2B5EF4-FFF2-40B4-BE49-F238E27FC236}">
                <a16:creationId xmlns:a16="http://schemas.microsoft.com/office/drawing/2014/main" id="{16D5FB7C-F0F5-D73E-9376-C6F8EC2F5670}"/>
              </a:ext>
            </a:extLst>
          </p:cNvPr>
          <p:cNvPicPr>
            <a:picLocks noChangeAspect="1"/>
          </p:cNvPicPr>
          <p:nvPr/>
        </p:nvPicPr>
        <p:blipFill>
          <a:blip r:embed="rId3"/>
          <a:stretch>
            <a:fillRect/>
          </a:stretch>
        </p:blipFill>
        <p:spPr>
          <a:xfrm>
            <a:off x="7441028" y="1883746"/>
            <a:ext cx="3444948" cy="4269033"/>
          </a:xfrm>
          <a:prstGeom prst="rect">
            <a:avLst/>
          </a:prstGeom>
        </p:spPr>
      </p:pic>
    </p:spTree>
    <p:extLst>
      <p:ext uri="{BB962C8B-B14F-4D97-AF65-F5344CB8AC3E}">
        <p14:creationId xmlns:p14="http://schemas.microsoft.com/office/powerpoint/2010/main" val="205995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F2747-387D-7148-C980-5791B5E57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B326A-098C-92D6-F6ED-75C25BBE0EF3}"/>
              </a:ext>
            </a:extLst>
          </p:cNvPr>
          <p:cNvSpPr>
            <a:spLocks noGrp="1"/>
          </p:cNvSpPr>
          <p:nvPr>
            <p:ph type="title"/>
          </p:nvPr>
        </p:nvSpPr>
        <p:spPr/>
        <p:txBody>
          <a:bodyPr/>
          <a:lstStyle/>
          <a:p>
            <a:r>
              <a:rPr lang="en-US" dirty="0">
                <a:solidFill>
                  <a:schemeClr val="accent1"/>
                </a:solidFill>
              </a:rPr>
              <a:t>Design Example-D Flip-flop</a:t>
            </a:r>
          </a:p>
        </p:txBody>
      </p:sp>
      <p:sp>
        <p:nvSpPr>
          <p:cNvPr id="4" name="Slide Number Placeholder 3">
            <a:extLst>
              <a:ext uri="{FF2B5EF4-FFF2-40B4-BE49-F238E27FC236}">
                <a16:creationId xmlns:a16="http://schemas.microsoft.com/office/drawing/2014/main" id="{C238C199-B0AC-E3FA-5203-49CE5D2A30C6}"/>
              </a:ext>
            </a:extLst>
          </p:cNvPr>
          <p:cNvSpPr>
            <a:spLocks noGrp="1"/>
          </p:cNvSpPr>
          <p:nvPr>
            <p:ph type="sldNum" sz="quarter" idx="12"/>
          </p:nvPr>
        </p:nvSpPr>
        <p:spPr/>
        <p:txBody>
          <a:bodyPr/>
          <a:lstStyle/>
          <a:p>
            <a:fld id="{B371FB23-F5EE-40F0-B170-9EA725515109}" type="slidenum">
              <a:rPr lang="en-US" smtClean="0"/>
              <a:t>6</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2B809B91-1187-B234-66AB-5049FA49EA05}"/>
                  </a:ext>
                </a:extLst>
              </p:cNvPr>
              <p:cNvSpPr>
                <a:spLocks noGrp="1"/>
              </p:cNvSpPr>
              <p:nvPr>
                <p:ph idx="1"/>
              </p:nvPr>
            </p:nvSpPr>
            <p:spPr>
              <a:xfrm>
                <a:off x="838200" y="1825625"/>
                <a:ext cx="10093036" cy="4351338"/>
              </a:xfrm>
            </p:spPr>
            <p:txBody>
              <a:bodyPr>
                <a:normAutofit/>
              </a:bodyPr>
              <a:lstStyle/>
              <a:p>
                <a:pPr>
                  <a:lnSpc>
                    <a:spcPct val="150000"/>
                  </a:lnSpc>
                </a:pPr>
                <a:r>
                  <a:rPr lang="en-US" dirty="0">
                    <a:solidFill>
                      <a:srgbClr val="002060"/>
                    </a:solidFill>
                    <a:latin typeface="+mj-lt"/>
                  </a:rPr>
                  <a:t>We choose two D flip-flops to represent the four states, and we label their outputs A and B. </a:t>
                </a:r>
              </a:p>
              <a:p>
                <a:pPr>
                  <a:lnSpc>
                    <a:spcPct val="150000"/>
                  </a:lnSpc>
                </a:pPr>
                <a:r>
                  <a:rPr lang="en-US" dirty="0">
                    <a:solidFill>
                      <a:srgbClr val="002060"/>
                    </a:solidFill>
                    <a:latin typeface="+mj-lt"/>
                  </a:rPr>
                  <a:t>The characteristic equation of the D flip-flop is </a:t>
                </a:r>
                <a14:m>
                  <m:oMath xmlns:m="http://schemas.openxmlformats.org/officeDocument/2006/math">
                    <m:r>
                      <a:rPr lang="en-US" i="1" dirty="0" smtClean="0">
                        <a:solidFill>
                          <a:srgbClr val="002060"/>
                        </a:solidFill>
                        <a:latin typeface="Cambria Math" panose="02040503050406030204" pitchFamily="18" charset="0"/>
                      </a:rPr>
                      <m:t>𝑄</m:t>
                    </m:r>
                    <m:r>
                      <a:rPr lang="en-US" i="1" dirty="0" smtClean="0">
                        <a:solidFill>
                          <a:srgbClr val="002060"/>
                        </a:solidFill>
                        <a:latin typeface="Cambria Math" panose="02040503050406030204" pitchFamily="18" charset="0"/>
                      </a:rPr>
                      <m:t>(</m:t>
                    </m:r>
                    <m:r>
                      <a:rPr lang="en-US" i="1" dirty="0" smtClean="0">
                        <a:solidFill>
                          <a:srgbClr val="002060"/>
                        </a:solidFill>
                        <a:latin typeface="Cambria Math" panose="02040503050406030204" pitchFamily="18" charset="0"/>
                      </a:rPr>
                      <m:t>𝑡</m:t>
                    </m:r>
                    <m:r>
                      <a:rPr lang="en-US" i="1" dirty="0" smtClean="0">
                        <a:solidFill>
                          <a:srgbClr val="002060"/>
                        </a:solidFill>
                        <a:latin typeface="Cambria Math" panose="02040503050406030204" pitchFamily="18" charset="0"/>
                      </a:rPr>
                      <m:t> + 1) = </m:t>
                    </m:r>
                    <m:sSub>
                      <m:sSubPr>
                        <m:ctrlPr>
                          <a:rPr lang="en-US" b="0" i="1" dirty="0" smtClean="0">
                            <a:solidFill>
                              <a:srgbClr val="002060"/>
                            </a:solidFill>
                            <a:latin typeface="Cambria Math" panose="02040503050406030204" pitchFamily="18" charset="0"/>
                          </a:rPr>
                        </m:ctrlPr>
                      </m:sSubPr>
                      <m:e>
                        <m:r>
                          <a:rPr lang="en-US" b="0" i="1" dirty="0" smtClean="0">
                            <a:solidFill>
                              <a:srgbClr val="002060"/>
                            </a:solidFill>
                            <a:latin typeface="Cambria Math" panose="02040503050406030204" pitchFamily="18" charset="0"/>
                          </a:rPr>
                          <m:t>𝐷</m:t>
                        </m:r>
                      </m:e>
                      <m:sub>
                        <m:r>
                          <a:rPr lang="en-US" b="0" i="1" dirty="0" smtClean="0">
                            <a:solidFill>
                              <a:srgbClr val="002060"/>
                            </a:solidFill>
                            <a:latin typeface="Cambria Math" panose="02040503050406030204" pitchFamily="18" charset="0"/>
                          </a:rPr>
                          <m:t>𝑄</m:t>
                        </m:r>
                      </m:sub>
                    </m:sSub>
                  </m:oMath>
                </a14:m>
                <a:r>
                  <a:rPr lang="en-US" dirty="0">
                    <a:solidFill>
                      <a:srgbClr val="002060"/>
                    </a:solidFill>
                    <a:latin typeface="+mj-lt"/>
                  </a:rPr>
                  <a:t>.</a:t>
                </a:r>
                <a:br>
                  <a:rPr lang="en-US" dirty="0"/>
                </a:br>
                <a:endParaRPr lang="en-US" dirty="0">
                  <a:solidFill>
                    <a:srgbClr val="002060"/>
                  </a:solidFill>
                  <a:latin typeface="+mj-lt"/>
                </a:endParaRPr>
              </a:p>
            </p:txBody>
          </p:sp>
        </mc:Choice>
        <mc:Fallback xmlns="">
          <p:sp>
            <p:nvSpPr>
              <p:cNvPr id="5" name="Content Placeholder 2">
                <a:extLst>
                  <a:ext uri="{FF2B5EF4-FFF2-40B4-BE49-F238E27FC236}">
                    <a16:creationId xmlns:a16="http://schemas.microsoft.com/office/drawing/2014/main" id="{2B809B91-1187-B234-66AB-5049FA49EA05}"/>
                  </a:ext>
                </a:extLst>
              </p:cNvPr>
              <p:cNvSpPr>
                <a:spLocks noGrp="1" noRot="1" noChangeAspect="1" noMove="1" noResize="1" noEditPoints="1" noAdjustHandles="1" noChangeArrowheads="1" noChangeShapeType="1" noTextEdit="1"/>
              </p:cNvSpPr>
              <p:nvPr>
                <p:ph idx="1"/>
              </p:nvPr>
            </p:nvSpPr>
            <p:spPr>
              <a:xfrm>
                <a:off x="838200" y="1825625"/>
                <a:ext cx="10093036" cy="4351338"/>
              </a:xfrm>
              <a:blipFill>
                <a:blip r:embed="rId3"/>
                <a:stretch>
                  <a:fillRect l="-1088"/>
                </a:stretch>
              </a:blipFill>
            </p:spPr>
            <p:txBody>
              <a:bodyPr/>
              <a:lstStyle/>
              <a:p>
                <a:r>
                  <a:rPr lang="en-US">
                    <a:noFill/>
                  </a:rPr>
                  <a:t> </a:t>
                </a:r>
              </a:p>
            </p:txBody>
          </p:sp>
        </mc:Fallback>
      </mc:AlternateContent>
    </p:spTree>
    <p:extLst>
      <p:ext uri="{BB962C8B-B14F-4D97-AF65-F5344CB8AC3E}">
        <p14:creationId xmlns:p14="http://schemas.microsoft.com/office/powerpoint/2010/main" val="3159133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512F4-2ED9-1579-F67F-6F3E2424D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698F2-C08E-1113-45EE-B7CB057F7190}"/>
              </a:ext>
            </a:extLst>
          </p:cNvPr>
          <p:cNvSpPr>
            <a:spLocks noGrp="1"/>
          </p:cNvSpPr>
          <p:nvPr>
            <p:ph type="title"/>
          </p:nvPr>
        </p:nvSpPr>
        <p:spPr/>
        <p:txBody>
          <a:bodyPr/>
          <a:lstStyle/>
          <a:p>
            <a:r>
              <a:rPr lang="en-US" dirty="0">
                <a:solidFill>
                  <a:schemeClr val="accent1"/>
                </a:solidFill>
              </a:rPr>
              <a:t>Design Example-D Flip-flop</a:t>
            </a:r>
          </a:p>
        </p:txBody>
      </p:sp>
      <p:sp>
        <p:nvSpPr>
          <p:cNvPr id="5" name="Content Placeholder 2">
            <a:extLst>
              <a:ext uri="{FF2B5EF4-FFF2-40B4-BE49-F238E27FC236}">
                <a16:creationId xmlns:a16="http://schemas.microsoft.com/office/drawing/2014/main" id="{20A0CF50-FA58-72AD-55C5-8EE32D5482EA}"/>
              </a:ext>
            </a:extLst>
          </p:cNvPr>
          <p:cNvSpPr txBox="1">
            <a:spLocks/>
          </p:cNvSpPr>
          <p:nvPr/>
        </p:nvSpPr>
        <p:spPr>
          <a:xfrm>
            <a:off x="7597845" y="1653474"/>
            <a:ext cx="1947530" cy="6623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dirty="0">
                <a:solidFill>
                  <a:srgbClr val="002060"/>
                </a:solidFill>
                <a:latin typeface="+mj-lt"/>
              </a:rPr>
              <a:t>State Table</a:t>
            </a:r>
          </a:p>
        </p:txBody>
      </p:sp>
      <p:pic>
        <p:nvPicPr>
          <p:cNvPr id="6" name="Picture 5">
            <a:extLst>
              <a:ext uri="{FF2B5EF4-FFF2-40B4-BE49-F238E27FC236}">
                <a16:creationId xmlns:a16="http://schemas.microsoft.com/office/drawing/2014/main" id="{CF75E69D-9C0D-4B80-C516-6655C0F09DD9}"/>
              </a:ext>
            </a:extLst>
          </p:cNvPr>
          <p:cNvPicPr>
            <a:picLocks noChangeAspect="1"/>
          </p:cNvPicPr>
          <p:nvPr/>
        </p:nvPicPr>
        <p:blipFill>
          <a:blip r:embed="rId2"/>
          <a:stretch>
            <a:fillRect/>
          </a:stretch>
        </p:blipFill>
        <p:spPr>
          <a:xfrm>
            <a:off x="6635501" y="2537223"/>
            <a:ext cx="4718299" cy="3209137"/>
          </a:xfrm>
          <a:prstGeom prst="rect">
            <a:avLst/>
          </a:prstGeom>
        </p:spPr>
      </p:pic>
      <p:sp>
        <p:nvSpPr>
          <p:cNvPr id="7" name="Rectangle: Rounded Corners 6">
            <a:extLst>
              <a:ext uri="{FF2B5EF4-FFF2-40B4-BE49-F238E27FC236}">
                <a16:creationId xmlns:a16="http://schemas.microsoft.com/office/drawing/2014/main" id="{60AC17EF-DAA1-AA51-09F1-86734AAE492C}"/>
              </a:ext>
            </a:extLst>
          </p:cNvPr>
          <p:cNvSpPr/>
          <p:nvPr/>
        </p:nvSpPr>
        <p:spPr>
          <a:xfrm>
            <a:off x="9122735" y="3561907"/>
            <a:ext cx="329609" cy="2105246"/>
          </a:xfrm>
          <a:prstGeom prst="roundRect">
            <a:avLst/>
          </a:prstGeom>
          <a:noFill/>
          <a:ln>
            <a:solidFill>
              <a:srgbClr val="2AAF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3A639FF5-2941-16D7-B266-142104595BEE}"/>
              </a:ext>
            </a:extLst>
          </p:cNvPr>
          <p:cNvPicPr>
            <a:picLocks noChangeAspect="1"/>
          </p:cNvPicPr>
          <p:nvPr/>
        </p:nvPicPr>
        <p:blipFill>
          <a:blip r:embed="rId3"/>
          <a:stretch>
            <a:fillRect/>
          </a:stretch>
        </p:blipFill>
        <p:spPr>
          <a:xfrm>
            <a:off x="1426922" y="2631219"/>
            <a:ext cx="3570380" cy="2797840"/>
          </a:xfrm>
          <a:prstGeom prst="rect">
            <a:avLst/>
          </a:prstGeom>
        </p:spPr>
      </p:pic>
    </p:spTree>
    <p:extLst>
      <p:ext uri="{BB962C8B-B14F-4D97-AF65-F5344CB8AC3E}">
        <p14:creationId xmlns:p14="http://schemas.microsoft.com/office/powerpoint/2010/main" val="2292140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C8D24-2F31-9618-C00E-9D44C3C11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FE763-A62B-4ABE-A490-D79DDDDE0105}"/>
              </a:ext>
            </a:extLst>
          </p:cNvPr>
          <p:cNvSpPr>
            <a:spLocks noGrp="1"/>
          </p:cNvSpPr>
          <p:nvPr>
            <p:ph type="title"/>
          </p:nvPr>
        </p:nvSpPr>
        <p:spPr/>
        <p:txBody>
          <a:bodyPr/>
          <a:lstStyle/>
          <a:p>
            <a:r>
              <a:rPr lang="en-US" dirty="0">
                <a:solidFill>
                  <a:schemeClr val="accent1"/>
                </a:solidFill>
              </a:rPr>
              <a:t>Design Example-D Flip-flop</a:t>
            </a:r>
          </a:p>
        </p:txBody>
      </p:sp>
      <p:sp>
        <p:nvSpPr>
          <p:cNvPr id="5" name="Content Placeholder 2">
            <a:extLst>
              <a:ext uri="{FF2B5EF4-FFF2-40B4-BE49-F238E27FC236}">
                <a16:creationId xmlns:a16="http://schemas.microsoft.com/office/drawing/2014/main" id="{139155A7-56B6-F39A-7622-C8FA9A78601E}"/>
              </a:ext>
            </a:extLst>
          </p:cNvPr>
          <p:cNvSpPr txBox="1">
            <a:spLocks/>
          </p:cNvSpPr>
          <p:nvPr/>
        </p:nvSpPr>
        <p:spPr>
          <a:xfrm>
            <a:off x="7597845" y="1653474"/>
            <a:ext cx="1947530" cy="6623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solidFill>
                  <a:srgbClr val="002060"/>
                </a:solidFill>
                <a:latin typeface="+mj-lt"/>
              </a:rPr>
              <a:t>State Table</a:t>
            </a:r>
            <a:endParaRPr lang="en-US" dirty="0">
              <a:solidFill>
                <a:srgbClr val="002060"/>
              </a:solidFill>
              <a:latin typeface="+mj-lt"/>
            </a:endParaRPr>
          </a:p>
        </p:txBody>
      </p:sp>
      <p:pic>
        <p:nvPicPr>
          <p:cNvPr id="6" name="Picture 5">
            <a:extLst>
              <a:ext uri="{FF2B5EF4-FFF2-40B4-BE49-F238E27FC236}">
                <a16:creationId xmlns:a16="http://schemas.microsoft.com/office/drawing/2014/main" id="{87987002-11AB-CF22-1FA5-8C0435D1797F}"/>
              </a:ext>
            </a:extLst>
          </p:cNvPr>
          <p:cNvPicPr>
            <a:picLocks noChangeAspect="1"/>
          </p:cNvPicPr>
          <p:nvPr/>
        </p:nvPicPr>
        <p:blipFill>
          <a:blip r:embed="rId2"/>
          <a:stretch>
            <a:fillRect/>
          </a:stretch>
        </p:blipFill>
        <p:spPr>
          <a:xfrm>
            <a:off x="6635501" y="2537223"/>
            <a:ext cx="4718299" cy="3209137"/>
          </a:xfrm>
          <a:prstGeom prst="rect">
            <a:avLst/>
          </a:prstGeom>
        </p:spPr>
      </p:pic>
      <p:sp>
        <p:nvSpPr>
          <p:cNvPr id="7" name="Rectangle: Rounded Corners 6">
            <a:extLst>
              <a:ext uri="{FF2B5EF4-FFF2-40B4-BE49-F238E27FC236}">
                <a16:creationId xmlns:a16="http://schemas.microsoft.com/office/drawing/2014/main" id="{FA9F8FCC-121D-4370-52D0-8168B663DB4E}"/>
              </a:ext>
            </a:extLst>
          </p:cNvPr>
          <p:cNvSpPr/>
          <p:nvPr/>
        </p:nvSpPr>
        <p:spPr>
          <a:xfrm>
            <a:off x="9664996" y="3540642"/>
            <a:ext cx="329609" cy="2105246"/>
          </a:xfrm>
          <a:prstGeom prst="roundRect">
            <a:avLst/>
          </a:prstGeom>
          <a:noFill/>
          <a:ln>
            <a:solidFill>
              <a:srgbClr val="2AAF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5E29515-6354-6A5F-71C5-84503C006284}"/>
              </a:ext>
            </a:extLst>
          </p:cNvPr>
          <p:cNvPicPr>
            <a:picLocks noChangeAspect="1"/>
          </p:cNvPicPr>
          <p:nvPr/>
        </p:nvPicPr>
        <p:blipFill>
          <a:blip r:embed="rId3"/>
          <a:stretch>
            <a:fillRect/>
          </a:stretch>
        </p:blipFill>
        <p:spPr>
          <a:xfrm>
            <a:off x="1399160" y="2755614"/>
            <a:ext cx="3555612" cy="2757197"/>
          </a:xfrm>
          <a:prstGeom prst="rect">
            <a:avLst/>
          </a:prstGeom>
        </p:spPr>
      </p:pic>
    </p:spTree>
    <p:extLst>
      <p:ext uri="{BB962C8B-B14F-4D97-AF65-F5344CB8AC3E}">
        <p14:creationId xmlns:p14="http://schemas.microsoft.com/office/powerpoint/2010/main" val="307200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3DA08-A34E-530A-CDB0-36057FA87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A2D2B-4C3A-2E3E-D32F-39B239A68465}"/>
              </a:ext>
            </a:extLst>
          </p:cNvPr>
          <p:cNvSpPr>
            <a:spLocks noGrp="1"/>
          </p:cNvSpPr>
          <p:nvPr>
            <p:ph type="title"/>
          </p:nvPr>
        </p:nvSpPr>
        <p:spPr/>
        <p:txBody>
          <a:bodyPr/>
          <a:lstStyle/>
          <a:p>
            <a:r>
              <a:rPr lang="en-US" dirty="0">
                <a:solidFill>
                  <a:schemeClr val="accent1"/>
                </a:solidFill>
              </a:rPr>
              <a:t>Design Example-D Flip-flop</a:t>
            </a:r>
          </a:p>
        </p:txBody>
      </p:sp>
      <p:sp>
        <p:nvSpPr>
          <p:cNvPr id="5" name="Content Placeholder 2">
            <a:extLst>
              <a:ext uri="{FF2B5EF4-FFF2-40B4-BE49-F238E27FC236}">
                <a16:creationId xmlns:a16="http://schemas.microsoft.com/office/drawing/2014/main" id="{532269D6-4C65-0E05-4727-D9517C9792DD}"/>
              </a:ext>
            </a:extLst>
          </p:cNvPr>
          <p:cNvSpPr txBox="1">
            <a:spLocks/>
          </p:cNvSpPr>
          <p:nvPr/>
        </p:nvSpPr>
        <p:spPr>
          <a:xfrm>
            <a:off x="7597845" y="1653474"/>
            <a:ext cx="1947530" cy="6623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solidFill>
                  <a:srgbClr val="002060"/>
                </a:solidFill>
                <a:latin typeface="+mj-lt"/>
              </a:rPr>
              <a:t>State Table</a:t>
            </a:r>
            <a:endParaRPr lang="en-US" dirty="0">
              <a:solidFill>
                <a:srgbClr val="002060"/>
              </a:solidFill>
              <a:latin typeface="+mj-lt"/>
            </a:endParaRPr>
          </a:p>
        </p:txBody>
      </p:sp>
      <p:pic>
        <p:nvPicPr>
          <p:cNvPr id="6" name="Picture 5">
            <a:extLst>
              <a:ext uri="{FF2B5EF4-FFF2-40B4-BE49-F238E27FC236}">
                <a16:creationId xmlns:a16="http://schemas.microsoft.com/office/drawing/2014/main" id="{0F574009-F50E-506C-A396-19E9F44EBEB6}"/>
              </a:ext>
            </a:extLst>
          </p:cNvPr>
          <p:cNvPicPr>
            <a:picLocks noChangeAspect="1"/>
          </p:cNvPicPr>
          <p:nvPr/>
        </p:nvPicPr>
        <p:blipFill>
          <a:blip r:embed="rId2"/>
          <a:stretch>
            <a:fillRect/>
          </a:stretch>
        </p:blipFill>
        <p:spPr>
          <a:xfrm>
            <a:off x="6635501" y="2537223"/>
            <a:ext cx="4718299" cy="3209137"/>
          </a:xfrm>
          <a:prstGeom prst="rect">
            <a:avLst/>
          </a:prstGeom>
        </p:spPr>
      </p:pic>
      <p:sp>
        <p:nvSpPr>
          <p:cNvPr id="7" name="Rectangle: Rounded Corners 6">
            <a:extLst>
              <a:ext uri="{FF2B5EF4-FFF2-40B4-BE49-F238E27FC236}">
                <a16:creationId xmlns:a16="http://schemas.microsoft.com/office/drawing/2014/main" id="{89B246BD-5FB4-3A8A-151E-0EB685A536C8}"/>
              </a:ext>
            </a:extLst>
          </p:cNvPr>
          <p:cNvSpPr/>
          <p:nvPr/>
        </p:nvSpPr>
        <p:spPr>
          <a:xfrm>
            <a:off x="10706987" y="3561908"/>
            <a:ext cx="329609" cy="2105246"/>
          </a:xfrm>
          <a:prstGeom prst="roundRect">
            <a:avLst/>
          </a:prstGeom>
          <a:noFill/>
          <a:ln>
            <a:solidFill>
              <a:srgbClr val="2AAF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2C57242-3CA2-4631-8302-3529E021D1AE}"/>
              </a:ext>
            </a:extLst>
          </p:cNvPr>
          <p:cNvPicPr>
            <a:picLocks noChangeAspect="1"/>
          </p:cNvPicPr>
          <p:nvPr/>
        </p:nvPicPr>
        <p:blipFill>
          <a:blip r:embed="rId3"/>
          <a:stretch>
            <a:fillRect/>
          </a:stretch>
        </p:blipFill>
        <p:spPr>
          <a:xfrm>
            <a:off x="1730837" y="2758663"/>
            <a:ext cx="3553543" cy="2778224"/>
          </a:xfrm>
          <a:prstGeom prst="rect">
            <a:avLst/>
          </a:prstGeom>
        </p:spPr>
      </p:pic>
    </p:spTree>
    <p:extLst>
      <p:ext uri="{BB962C8B-B14F-4D97-AF65-F5344CB8AC3E}">
        <p14:creationId xmlns:p14="http://schemas.microsoft.com/office/powerpoint/2010/main" val="240541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F547C-2CEB-74B5-3B78-2DBB51FF3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E6464-63DC-0D85-50FA-A4037D704694}"/>
              </a:ext>
            </a:extLst>
          </p:cNvPr>
          <p:cNvSpPr>
            <a:spLocks noGrp="1"/>
          </p:cNvSpPr>
          <p:nvPr>
            <p:ph type="title"/>
          </p:nvPr>
        </p:nvSpPr>
        <p:spPr/>
        <p:txBody>
          <a:bodyPr/>
          <a:lstStyle/>
          <a:p>
            <a:r>
              <a:rPr lang="en-US" dirty="0">
                <a:solidFill>
                  <a:schemeClr val="accent1"/>
                </a:solidFill>
              </a:rPr>
              <a:t>Design Example-D Flip-flop</a:t>
            </a:r>
          </a:p>
        </p:txBody>
      </p:sp>
      <p:pic>
        <p:nvPicPr>
          <p:cNvPr id="4" name="Picture 3">
            <a:extLst>
              <a:ext uri="{FF2B5EF4-FFF2-40B4-BE49-F238E27FC236}">
                <a16:creationId xmlns:a16="http://schemas.microsoft.com/office/drawing/2014/main" id="{530DF86E-AC06-12F5-DEDC-27F2C9EBAC65}"/>
              </a:ext>
            </a:extLst>
          </p:cNvPr>
          <p:cNvPicPr>
            <a:picLocks noChangeAspect="1"/>
          </p:cNvPicPr>
          <p:nvPr/>
        </p:nvPicPr>
        <p:blipFill>
          <a:blip r:embed="rId2"/>
          <a:stretch>
            <a:fillRect/>
          </a:stretch>
        </p:blipFill>
        <p:spPr>
          <a:xfrm>
            <a:off x="4697873" y="1598306"/>
            <a:ext cx="6496384" cy="4724643"/>
          </a:xfrm>
          <a:prstGeom prst="rect">
            <a:avLst/>
          </a:prstGeom>
        </p:spPr>
      </p:pic>
      <p:pic>
        <p:nvPicPr>
          <p:cNvPr id="10" name="Picture 9">
            <a:extLst>
              <a:ext uri="{FF2B5EF4-FFF2-40B4-BE49-F238E27FC236}">
                <a16:creationId xmlns:a16="http://schemas.microsoft.com/office/drawing/2014/main" id="{9D02B053-9E38-8AED-18C0-2C0B2B1FFC29}"/>
              </a:ext>
            </a:extLst>
          </p:cNvPr>
          <p:cNvPicPr>
            <a:picLocks noChangeAspect="1"/>
          </p:cNvPicPr>
          <p:nvPr/>
        </p:nvPicPr>
        <p:blipFill>
          <a:blip r:embed="rId3"/>
          <a:stretch>
            <a:fillRect/>
          </a:stretch>
        </p:blipFill>
        <p:spPr>
          <a:xfrm>
            <a:off x="1771323" y="3179707"/>
            <a:ext cx="1748053" cy="1030432"/>
          </a:xfrm>
          <a:prstGeom prst="rect">
            <a:avLst/>
          </a:prstGeom>
        </p:spPr>
      </p:pic>
    </p:spTree>
    <p:extLst>
      <p:ext uri="{BB962C8B-B14F-4D97-AF65-F5344CB8AC3E}">
        <p14:creationId xmlns:p14="http://schemas.microsoft.com/office/powerpoint/2010/main" val="1587007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43B9B-E31E-2D7A-BD9A-45339FFC6C29}"/>
              </a:ext>
            </a:extLst>
          </p:cNvPr>
          <p:cNvSpPr>
            <a:spLocks noGrp="1"/>
          </p:cNvSpPr>
          <p:nvPr>
            <p:ph type="title"/>
          </p:nvPr>
        </p:nvSpPr>
        <p:spPr/>
        <p:txBody>
          <a:bodyPr/>
          <a:lstStyle/>
          <a:p>
            <a:r>
              <a:rPr lang="en-US" dirty="0">
                <a:solidFill>
                  <a:schemeClr val="accent1"/>
                </a:solidFill>
              </a:rPr>
              <a:t>Design a State Machine </a:t>
            </a:r>
          </a:p>
        </p:txBody>
      </p:sp>
      <p:sp>
        <p:nvSpPr>
          <p:cNvPr id="3" name="Content Placeholder 2">
            <a:extLst>
              <a:ext uri="{FF2B5EF4-FFF2-40B4-BE49-F238E27FC236}">
                <a16:creationId xmlns:a16="http://schemas.microsoft.com/office/drawing/2014/main" id="{40160780-8D0C-4169-4590-D0D958774D9A}"/>
              </a:ext>
            </a:extLst>
          </p:cNvPr>
          <p:cNvSpPr>
            <a:spLocks noGrp="1"/>
          </p:cNvSpPr>
          <p:nvPr>
            <p:ph idx="1"/>
          </p:nvPr>
        </p:nvSpPr>
        <p:spPr>
          <a:xfrm>
            <a:off x="838199" y="1825625"/>
            <a:ext cx="10764795" cy="4351338"/>
          </a:xfrm>
        </p:spPr>
        <p:txBody>
          <a:bodyPr>
            <a:normAutofit/>
          </a:bodyPr>
          <a:lstStyle/>
          <a:p>
            <a:pPr marL="0" indent="0">
              <a:lnSpc>
                <a:spcPct val="150000"/>
              </a:lnSpc>
              <a:buNone/>
            </a:pPr>
            <a:r>
              <a:rPr lang="en-US" sz="2600" dirty="0">
                <a:solidFill>
                  <a:srgbClr val="002060"/>
                </a:solidFill>
              </a:rPr>
              <a:t>When using a simulator or synthesizer, we only need to describe the </a:t>
            </a:r>
            <a:r>
              <a:rPr lang="en-US" sz="2600" b="1" dirty="0">
                <a:solidFill>
                  <a:srgbClr val="002060"/>
                </a:solidFill>
              </a:rPr>
              <a:t>behavior</a:t>
            </a:r>
            <a:r>
              <a:rPr lang="en-US" sz="2600" dirty="0">
                <a:solidFill>
                  <a:srgbClr val="002060"/>
                </a:solidFill>
              </a:rPr>
              <a:t> of our circuit. </a:t>
            </a:r>
          </a:p>
          <a:p>
            <a:pPr>
              <a:lnSpc>
                <a:spcPct val="150000"/>
              </a:lnSpc>
            </a:pPr>
            <a:r>
              <a:rPr lang="en-US" sz="2600" dirty="0">
                <a:solidFill>
                  <a:srgbClr val="002060"/>
                </a:solidFill>
              </a:rPr>
              <a:t>We don’t have to worry about:</a:t>
            </a:r>
          </a:p>
          <a:p>
            <a:pPr lvl="1">
              <a:lnSpc>
                <a:spcPct val="150000"/>
              </a:lnSpc>
            </a:pPr>
            <a:r>
              <a:rPr lang="en-US" dirty="0">
                <a:solidFill>
                  <a:srgbClr val="002060"/>
                </a:solidFill>
              </a:rPr>
              <a:t>how many flip-flops will be used in the final design, </a:t>
            </a:r>
          </a:p>
          <a:p>
            <a:pPr lvl="1">
              <a:lnSpc>
                <a:spcPct val="150000"/>
              </a:lnSpc>
            </a:pPr>
            <a:r>
              <a:rPr lang="en-US" dirty="0">
                <a:solidFill>
                  <a:srgbClr val="002060"/>
                </a:solidFill>
              </a:rPr>
              <a:t>which type of flip-flop to use, </a:t>
            </a:r>
          </a:p>
          <a:p>
            <a:pPr lvl="1">
              <a:lnSpc>
                <a:spcPct val="150000"/>
              </a:lnSpc>
            </a:pPr>
            <a:r>
              <a:rPr lang="en-US" dirty="0">
                <a:solidFill>
                  <a:srgbClr val="002060"/>
                </a:solidFill>
              </a:rPr>
              <a:t>or how the input and output connections to the flip-flop will be implemented.</a:t>
            </a:r>
          </a:p>
        </p:txBody>
      </p:sp>
      <p:sp>
        <p:nvSpPr>
          <p:cNvPr id="4" name="Slide Number Placeholder 3">
            <a:extLst>
              <a:ext uri="{FF2B5EF4-FFF2-40B4-BE49-F238E27FC236}">
                <a16:creationId xmlns:a16="http://schemas.microsoft.com/office/drawing/2014/main" id="{9CE5137C-63E0-A9E5-2671-596ACD030BE8}"/>
              </a:ext>
            </a:extLst>
          </p:cNvPr>
          <p:cNvSpPr>
            <a:spLocks noGrp="1"/>
          </p:cNvSpPr>
          <p:nvPr>
            <p:ph type="sldNum" sz="quarter" idx="12"/>
          </p:nvPr>
        </p:nvSpPr>
        <p:spPr/>
        <p:txBody>
          <a:bodyPr/>
          <a:lstStyle/>
          <a:p>
            <a:fld id="{B371FB23-F5EE-40F0-B170-9EA725515109}" type="slidenum">
              <a:rPr lang="en-US" smtClean="0"/>
              <a:t>11</a:t>
            </a:fld>
            <a:endParaRPr lang="en-US"/>
          </a:p>
        </p:txBody>
      </p:sp>
    </p:spTree>
    <p:extLst>
      <p:ext uri="{BB962C8B-B14F-4D97-AF65-F5344CB8AC3E}">
        <p14:creationId xmlns:p14="http://schemas.microsoft.com/office/powerpoint/2010/main" val="3923546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A13E-C518-18C2-2350-D63EF3E7171B}"/>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9B5E00C6-E823-73F0-4A44-2DB2276C6AAD}"/>
              </a:ext>
            </a:extLst>
          </p:cNvPr>
          <p:cNvSpPr>
            <a:spLocks noGrp="1"/>
          </p:cNvSpPr>
          <p:nvPr>
            <p:ph idx="1"/>
          </p:nvPr>
        </p:nvSpPr>
        <p:spPr>
          <a:xfrm>
            <a:off x="838200" y="1825625"/>
            <a:ext cx="7070124" cy="4351338"/>
          </a:xfrm>
        </p:spPr>
        <p:txBody>
          <a:bodyPr/>
          <a:lstStyle/>
          <a:p>
            <a:pPr marL="0" indent="0">
              <a:lnSpc>
                <a:spcPct val="150000"/>
              </a:lnSpc>
              <a:buNone/>
            </a:pPr>
            <a:r>
              <a:rPr lang="en-US" sz="2600" dirty="0">
                <a:solidFill>
                  <a:srgbClr val="002060"/>
                </a:solidFill>
              </a:rPr>
              <a:t>Let’s design our example using SystemVerilog.</a:t>
            </a:r>
          </a:p>
          <a:p>
            <a:pPr marL="0" indent="0">
              <a:lnSpc>
                <a:spcPct val="150000"/>
              </a:lnSpc>
              <a:buNone/>
            </a:pPr>
            <a:r>
              <a:rPr lang="en-US" sz="2600" dirty="0">
                <a:solidFill>
                  <a:srgbClr val="002060"/>
                </a:solidFill>
              </a:rPr>
              <a:t>A circuit that detects a sequence of three or more consecutive 1s.</a:t>
            </a:r>
          </a:p>
        </p:txBody>
      </p:sp>
      <p:sp>
        <p:nvSpPr>
          <p:cNvPr id="4" name="Slide Number Placeholder 3">
            <a:extLst>
              <a:ext uri="{FF2B5EF4-FFF2-40B4-BE49-F238E27FC236}">
                <a16:creationId xmlns:a16="http://schemas.microsoft.com/office/drawing/2014/main" id="{92E6D86C-EB45-B3D5-3469-5E9446FDC1D7}"/>
              </a:ext>
            </a:extLst>
          </p:cNvPr>
          <p:cNvSpPr>
            <a:spLocks noGrp="1"/>
          </p:cNvSpPr>
          <p:nvPr>
            <p:ph type="sldNum" sz="quarter" idx="12"/>
          </p:nvPr>
        </p:nvSpPr>
        <p:spPr/>
        <p:txBody>
          <a:bodyPr/>
          <a:lstStyle/>
          <a:p>
            <a:fld id="{B371FB23-F5EE-40F0-B170-9EA725515109}" type="slidenum">
              <a:rPr lang="en-US" smtClean="0"/>
              <a:t>12</a:t>
            </a:fld>
            <a:endParaRPr lang="en-US"/>
          </a:p>
        </p:txBody>
      </p:sp>
      <p:pic>
        <p:nvPicPr>
          <p:cNvPr id="7" name="Picture 6">
            <a:extLst>
              <a:ext uri="{FF2B5EF4-FFF2-40B4-BE49-F238E27FC236}">
                <a16:creationId xmlns:a16="http://schemas.microsoft.com/office/drawing/2014/main" id="{E5AC5A95-1BD5-8026-AFE0-3644F97B9574}"/>
              </a:ext>
            </a:extLst>
          </p:cNvPr>
          <p:cNvPicPr>
            <a:picLocks noChangeAspect="1"/>
          </p:cNvPicPr>
          <p:nvPr/>
        </p:nvPicPr>
        <p:blipFill>
          <a:blip r:embed="rId2"/>
          <a:stretch>
            <a:fillRect/>
          </a:stretch>
        </p:blipFill>
        <p:spPr>
          <a:xfrm>
            <a:off x="8462319" y="1645961"/>
            <a:ext cx="2564218" cy="3177619"/>
          </a:xfrm>
          <a:prstGeom prst="rect">
            <a:avLst/>
          </a:prstGeom>
        </p:spPr>
      </p:pic>
      <p:sp>
        <p:nvSpPr>
          <p:cNvPr id="8" name="Rectangle 7">
            <a:extLst>
              <a:ext uri="{FF2B5EF4-FFF2-40B4-BE49-F238E27FC236}">
                <a16:creationId xmlns:a16="http://schemas.microsoft.com/office/drawing/2014/main" id="{AAF50B02-6133-88C7-4267-55F9524F0F7C}"/>
              </a:ext>
            </a:extLst>
          </p:cNvPr>
          <p:cNvSpPr/>
          <p:nvPr/>
        </p:nvSpPr>
        <p:spPr>
          <a:xfrm>
            <a:off x="3731741" y="4609554"/>
            <a:ext cx="2063578" cy="11486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D2733BC-3B7C-574B-27C3-A74EE168E28C}"/>
              </a:ext>
            </a:extLst>
          </p:cNvPr>
          <p:cNvCxnSpPr>
            <a:cxnSpLocks/>
          </p:cNvCxnSpPr>
          <p:nvPr/>
        </p:nvCxnSpPr>
        <p:spPr>
          <a:xfrm>
            <a:off x="2817341" y="5035617"/>
            <a:ext cx="914400" cy="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EDCAEA3-82AF-DA4E-4164-90B476D74242}"/>
              </a:ext>
            </a:extLst>
          </p:cNvPr>
          <p:cNvSpPr txBox="1"/>
          <p:nvPr/>
        </p:nvSpPr>
        <p:spPr>
          <a:xfrm>
            <a:off x="1728674" y="4784021"/>
            <a:ext cx="922047" cy="461665"/>
          </a:xfrm>
          <a:prstGeom prst="rect">
            <a:avLst/>
          </a:prstGeom>
          <a:noFill/>
        </p:spPr>
        <p:txBody>
          <a:bodyPr wrap="none" rtlCol="0">
            <a:spAutoFit/>
          </a:bodyPr>
          <a:lstStyle/>
          <a:p>
            <a:r>
              <a:rPr lang="en-US" sz="2400" dirty="0" err="1">
                <a:solidFill>
                  <a:srgbClr val="002060"/>
                </a:solidFill>
              </a:rPr>
              <a:t>In_bit</a:t>
            </a:r>
            <a:endParaRPr lang="en-US" sz="2400" dirty="0">
              <a:solidFill>
                <a:srgbClr val="002060"/>
              </a:solidFill>
            </a:endParaRPr>
          </a:p>
        </p:txBody>
      </p:sp>
      <p:cxnSp>
        <p:nvCxnSpPr>
          <p:cNvPr id="12" name="Straight Arrow Connector 11">
            <a:extLst>
              <a:ext uri="{FF2B5EF4-FFF2-40B4-BE49-F238E27FC236}">
                <a16:creationId xmlns:a16="http://schemas.microsoft.com/office/drawing/2014/main" id="{66110D65-E9FA-D178-EBD1-9C4B4E3ECB66}"/>
              </a:ext>
            </a:extLst>
          </p:cNvPr>
          <p:cNvCxnSpPr>
            <a:cxnSpLocks/>
          </p:cNvCxnSpPr>
          <p:nvPr/>
        </p:nvCxnSpPr>
        <p:spPr>
          <a:xfrm>
            <a:off x="5795319" y="5050942"/>
            <a:ext cx="914400" cy="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631BB15-F740-095B-B74B-F29EE88745EF}"/>
              </a:ext>
            </a:extLst>
          </p:cNvPr>
          <p:cNvSpPr txBox="1"/>
          <p:nvPr/>
        </p:nvSpPr>
        <p:spPr>
          <a:xfrm>
            <a:off x="6788622" y="4823580"/>
            <a:ext cx="1040798" cy="461665"/>
          </a:xfrm>
          <a:prstGeom prst="rect">
            <a:avLst/>
          </a:prstGeom>
          <a:noFill/>
        </p:spPr>
        <p:txBody>
          <a:bodyPr wrap="none" rtlCol="0">
            <a:spAutoFit/>
          </a:bodyPr>
          <a:lstStyle/>
          <a:p>
            <a:r>
              <a:rPr lang="en-US" sz="2400" dirty="0">
                <a:solidFill>
                  <a:srgbClr val="002060"/>
                </a:solidFill>
              </a:rPr>
              <a:t>detect</a:t>
            </a:r>
          </a:p>
        </p:txBody>
      </p:sp>
    </p:spTree>
    <p:extLst>
      <p:ext uri="{BB962C8B-B14F-4D97-AF65-F5344CB8AC3E}">
        <p14:creationId xmlns:p14="http://schemas.microsoft.com/office/powerpoint/2010/main" val="149532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50E9-7661-2BFE-640A-961E3591B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966A6-3984-5546-7D09-53F0016FB16C}"/>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D3BAF0F8-2206-6897-E3DF-3FB55D8D7316}"/>
              </a:ext>
            </a:extLst>
          </p:cNvPr>
          <p:cNvSpPr>
            <a:spLocks noGrp="1"/>
          </p:cNvSpPr>
          <p:nvPr>
            <p:ph idx="1"/>
          </p:nvPr>
        </p:nvSpPr>
        <p:spPr>
          <a:xfrm>
            <a:off x="838199" y="1825625"/>
            <a:ext cx="9887465" cy="4351338"/>
          </a:xfrm>
        </p:spPr>
        <p:txBody>
          <a:bodyPr>
            <a:normAutofit lnSpcReduction="10000"/>
          </a:bodyPr>
          <a:lstStyle/>
          <a:p>
            <a:pPr marL="0" indent="0">
              <a:lnSpc>
                <a:spcPct val="150000"/>
              </a:lnSpc>
              <a:buNone/>
            </a:pPr>
            <a:r>
              <a:rPr lang="en-US" sz="2600" dirty="0">
                <a:solidFill>
                  <a:srgbClr val="002060"/>
                </a:solidFill>
              </a:rPr>
              <a:t>We add a clock (</a:t>
            </a:r>
            <a:r>
              <a:rPr lang="en-US" sz="2600" dirty="0" err="1">
                <a:solidFill>
                  <a:srgbClr val="002060"/>
                </a:solidFill>
              </a:rPr>
              <a:t>clk</a:t>
            </a:r>
            <a:r>
              <a:rPr lang="en-US" sz="2600" dirty="0">
                <a:solidFill>
                  <a:srgbClr val="002060"/>
                </a:solidFill>
              </a:rPr>
              <a:t>) to our design:</a:t>
            </a:r>
          </a:p>
          <a:p>
            <a:pPr lvl="1">
              <a:lnSpc>
                <a:spcPct val="150000"/>
              </a:lnSpc>
            </a:pPr>
            <a:r>
              <a:rPr lang="en-US" sz="2600" dirty="0">
                <a:solidFill>
                  <a:srgbClr val="002060"/>
                </a:solidFill>
              </a:rPr>
              <a:t>The detector needs to look at the input one bit at a time, like a stream of data arriving in sequence.</a:t>
            </a:r>
          </a:p>
          <a:p>
            <a:pPr lvl="1">
              <a:lnSpc>
                <a:spcPct val="150000"/>
              </a:lnSpc>
            </a:pPr>
            <a:r>
              <a:rPr lang="en-US" sz="2600" dirty="0">
                <a:solidFill>
                  <a:srgbClr val="002060"/>
                </a:solidFill>
              </a:rPr>
              <a:t>A clock provides this timing — at each rising edge of the clock, the circuit checks the next input bit and updates its state.</a:t>
            </a:r>
          </a:p>
          <a:p>
            <a:pPr lvl="1">
              <a:lnSpc>
                <a:spcPct val="150000"/>
              </a:lnSpc>
            </a:pPr>
            <a:r>
              <a:rPr lang="en-US" sz="2600" dirty="0">
                <a:solidFill>
                  <a:srgbClr val="002060"/>
                </a:solidFill>
              </a:rPr>
              <a:t>Without a clock, the circuit would not know when to move from “I’ve seen one 1” → “I’ve seen two 1s” → “I’ve seen three 1s.”</a:t>
            </a:r>
          </a:p>
        </p:txBody>
      </p:sp>
      <p:sp>
        <p:nvSpPr>
          <p:cNvPr id="4" name="Slide Number Placeholder 3">
            <a:extLst>
              <a:ext uri="{FF2B5EF4-FFF2-40B4-BE49-F238E27FC236}">
                <a16:creationId xmlns:a16="http://schemas.microsoft.com/office/drawing/2014/main" id="{147E98C7-28D2-75FB-1A3C-101AA9F47694}"/>
              </a:ext>
            </a:extLst>
          </p:cNvPr>
          <p:cNvSpPr>
            <a:spLocks noGrp="1"/>
          </p:cNvSpPr>
          <p:nvPr>
            <p:ph type="sldNum" sz="quarter" idx="12"/>
          </p:nvPr>
        </p:nvSpPr>
        <p:spPr/>
        <p:txBody>
          <a:bodyPr/>
          <a:lstStyle/>
          <a:p>
            <a:fld id="{B371FB23-F5EE-40F0-B170-9EA725515109}" type="slidenum">
              <a:rPr lang="en-US" smtClean="0"/>
              <a:t>13</a:t>
            </a:fld>
            <a:endParaRPr lang="en-US"/>
          </a:p>
        </p:txBody>
      </p:sp>
    </p:spTree>
    <p:extLst>
      <p:ext uri="{BB962C8B-B14F-4D97-AF65-F5344CB8AC3E}">
        <p14:creationId xmlns:p14="http://schemas.microsoft.com/office/powerpoint/2010/main" val="3004325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F896-5EA0-CADE-42F6-D7916B0B4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84E45-5B34-E131-B75E-19A38FF74BA4}"/>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6E3CA6D2-2239-259E-36B3-A76B067BCE05}"/>
              </a:ext>
            </a:extLst>
          </p:cNvPr>
          <p:cNvSpPr>
            <a:spLocks noGrp="1"/>
          </p:cNvSpPr>
          <p:nvPr>
            <p:ph idx="1"/>
          </p:nvPr>
        </p:nvSpPr>
        <p:spPr>
          <a:xfrm>
            <a:off x="838199" y="1825625"/>
            <a:ext cx="9887465" cy="4351338"/>
          </a:xfrm>
        </p:spPr>
        <p:txBody>
          <a:bodyPr>
            <a:normAutofit/>
          </a:bodyPr>
          <a:lstStyle/>
          <a:p>
            <a:pPr marL="0" indent="0">
              <a:lnSpc>
                <a:spcPct val="150000"/>
              </a:lnSpc>
              <a:buNone/>
            </a:pPr>
            <a:r>
              <a:rPr lang="en-US" sz="2600" dirty="0">
                <a:solidFill>
                  <a:srgbClr val="002060"/>
                </a:solidFill>
              </a:rPr>
              <a:t>We add a reset signal to our design:</a:t>
            </a:r>
          </a:p>
          <a:p>
            <a:pPr lvl="1">
              <a:lnSpc>
                <a:spcPct val="150000"/>
              </a:lnSpc>
            </a:pPr>
            <a:r>
              <a:rPr lang="en-US" sz="2600" dirty="0">
                <a:solidFill>
                  <a:srgbClr val="002060"/>
                </a:solidFill>
              </a:rPr>
              <a:t>Reset is used to start the circuit in a known state when we power on or begin a simulation.</a:t>
            </a:r>
          </a:p>
          <a:p>
            <a:pPr lvl="1">
              <a:lnSpc>
                <a:spcPct val="150000"/>
              </a:lnSpc>
            </a:pPr>
            <a:r>
              <a:rPr lang="en-US" sz="2600" dirty="0">
                <a:solidFill>
                  <a:srgbClr val="002060"/>
                </a:solidFill>
              </a:rPr>
              <a:t>For our detector, we want it to begin in the state “no 1s seen yet.”</a:t>
            </a:r>
          </a:p>
          <a:p>
            <a:pPr lvl="1">
              <a:lnSpc>
                <a:spcPct val="150000"/>
              </a:lnSpc>
            </a:pPr>
            <a:r>
              <a:rPr lang="en-US" sz="2600" dirty="0">
                <a:solidFill>
                  <a:srgbClr val="002060"/>
                </a:solidFill>
              </a:rPr>
              <a:t>If we don’t include reset, the circuit might start in a random state, leading to incorrect behavior right from the beginning.</a:t>
            </a:r>
          </a:p>
        </p:txBody>
      </p:sp>
      <p:sp>
        <p:nvSpPr>
          <p:cNvPr id="4" name="Slide Number Placeholder 3">
            <a:extLst>
              <a:ext uri="{FF2B5EF4-FFF2-40B4-BE49-F238E27FC236}">
                <a16:creationId xmlns:a16="http://schemas.microsoft.com/office/drawing/2014/main" id="{F283B8AC-7178-99D1-26BC-25D879809EA6}"/>
              </a:ext>
            </a:extLst>
          </p:cNvPr>
          <p:cNvSpPr>
            <a:spLocks noGrp="1"/>
          </p:cNvSpPr>
          <p:nvPr>
            <p:ph type="sldNum" sz="quarter" idx="12"/>
          </p:nvPr>
        </p:nvSpPr>
        <p:spPr/>
        <p:txBody>
          <a:bodyPr/>
          <a:lstStyle/>
          <a:p>
            <a:fld id="{B371FB23-F5EE-40F0-B170-9EA725515109}" type="slidenum">
              <a:rPr lang="en-US" smtClean="0"/>
              <a:t>14</a:t>
            </a:fld>
            <a:endParaRPr lang="en-US"/>
          </a:p>
        </p:txBody>
      </p:sp>
    </p:spTree>
    <p:extLst>
      <p:ext uri="{BB962C8B-B14F-4D97-AF65-F5344CB8AC3E}">
        <p14:creationId xmlns:p14="http://schemas.microsoft.com/office/powerpoint/2010/main" val="184301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D650-B01C-90D4-4C22-083B38849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72B1A-8EDB-A696-60BA-4BB11463921A}"/>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AD6A5AAD-80D1-1390-8136-A6595A149E58}"/>
              </a:ext>
            </a:extLst>
          </p:cNvPr>
          <p:cNvSpPr>
            <a:spLocks noGrp="1"/>
          </p:cNvSpPr>
          <p:nvPr>
            <p:ph idx="1"/>
          </p:nvPr>
        </p:nvSpPr>
        <p:spPr>
          <a:xfrm>
            <a:off x="838200" y="1825625"/>
            <a:ext cx="7070124" cy="4351338"/>
          </a:xfrm>
        </p:spPr>
        <p:txBody>
          <a:bodyPr/>
          <a:lstStyle/>
          <a:p>
            <a:pPr marL="0" indent="0">
              <a:lnSpc>
                <a:spcPct val="150000"/>
              </a:lnSpc>
              <a:buNone/>
            </a:pPr>
            <a:r>
              <a:rPr lang="en-US" sz="2600" dirty="0">
                <a:solidFill>
                  <a:srgbClr val="002060"/>
                </a:solidFill>
              </a:rPr>
              <a:t>Module declaration:</a:t>
            </a:r>
          </a:p>
        </p:txBody>
      </p:sp>
      <p:sp>
        <p:nvSpPr>
          <p:cNvPr id="4" name="Slide Number Placeholder 3">
            <a:extLst>
              <a:ext uri="{FF2B5EF4-FFF2-40B4-BE49-F238E27FC236}">
                <a16:creationId xmlns:a16="http://schemas.microsoft.com/office/drawing/2014/main" id="{B11117B3-8024-3AD9-69C6-A08F49985110}"/>
              </a:ext>
            </a:extLst>
          </p:cNvPr>
          <p:cNvSpPr>
            <a:spLocks noGrp="1"/>
          </p:cNvSpPr>
          <p:nvPr>
            <p:ph type="sldNum" sz="quarter" idx="12"/>
          </p:nvPr>
        </p:nvSpPr>
        <p:spPr/>
        <p:txBody>
          <a:bodyPr/>
          <a:lstStyle/>
          <a:p>
            <a:fld id="{B371FB23-F5EE-40F0-B170-9EA725515109}" type="slidenum">
              <a:rPr lang="en-US" smtClean="0"/>
              <a:t>15</a:t>
            </a:fld>
            <a:endParaRPr lang="en-US"/>
          </a:p>
        </p:txBody>
      </p:sp>
      <p:sp>
        <p:nvSpPr>
          <p:cNvPr id="8" name="Rectangle 7">
            <a:extLst>
              <a:ext uri="{FF2B5EF4-FFF2-40B4-BE49-F238E27FC236}">
                <a16:creationId xmlns:a16="http://schemas.microsoft.com/office/drawing/2014/main" id="{770F5A30-46F2-63F9-D62F-DD0C7E376E88}"/>
              </a:ext>
            </a:extLst>
          </p:cNvPr>
          <p:cNvSpPr/>
          <p:nvPr/>
        </p:nvSpPr>
        <p:spPr>
          <a:xfrm>
            <a:off x="5132445" y="5344180"/>
            <a:ext cx="2063578" cy="11486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7B3A674-197A-AB94-AB53-3855BB31D789}"/>
              </a:ext>
            </a:extLst>
          </p:cNvPr>
          <p:cNvCxnSpPr>
            <a:cxnSpLocks/>
          </p:cNvCxnSpPr>
          <p:nvPr/>
        </p:nvCxnSpPr>
        <p:spPr>
          <a:xfrm>
            <a:off x="4218045" y="5510746"/>
            <a:ext cx="914400" cy="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DC8B45B-F6F0-7882-B31A-8B99FB50585E}"/>
              </a:ext>
            </a:extLst>
          </p:cNvPr>
          <p:cNvSpPr txBox="1"/>
          <p:nvPr/>
        </p:nvSpPr>
        <p:spPr>
          <a:xfrm>
            <a:off x="3129378" y="5259150"/>
            <a:ext cx="922047" cy="461665"/>
          </a:xfrm>
          <a:prstGeom prst="rect">
            <a:avLst/>
          </a:prstGeom>
          <a:noFill/>
        </p:spPr>
        <p:txBody>
          <a:bodyPr wrap="none" rtlCol="0">
            <a:spAutoFit/>
          </a:bodyPr>
          <a:lstStyle/>
          <a:p>
            <a:r>
              <a:rPr lang="en-US" sz="2400" dirty="0" err="1">
                <a:solidFill>
                  <a:srgbClr val="002060"/>
                </a:solidFill>
              </a:rPr>
              <a:t>In_bit</a:t>
            </a:r>
            <a:endParaRPr lang="en-US" sz="2400" dirty="0">
              <a:solidFill>
                <a:srgbClr val="002060"/>
              </a:solidFill>
            </a:endParaRPr>
          </a:p>
        </p:txBody>
      </p:sp>
      <p:cxnSp>
        <p:nvCxnSpPr>
          <p:cNvPr id="12" name="Straight Arrow Connector 11">
            <a:extLst>
              <a:ext uri="{FF2B5EF4-FFF2-40B4-BE49-F238E27FC236}">
                <a16:creationId xmlns:a16="http://schemas.microsoft.com/office/drawing/2014/main" id="{C9F8616F-CA2F-E1CB-3ED2-F3273AE632D2}"/>
              </a:ext>
            </a:extLst>
          </p:cNvPr>
          <p:cNvCxnSpPr>
            <a:cxnSpLocks/>
          </p:cNvCxnSpPr>
          <p:nvPr/>
        </p:nvCxnSpPr>
        <p:spPr>
          <a:xfrm>
            <a:off x="7196023" y="5785568"/>
            <a:ext cx="914400" cy="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3748FF4-12F1-176C-D1F7-E935E1B8180C}"/>
              </a:ext>
            </a:extLst>
          </p:cNvPr>
          <p:cNvSpPr txBox="1"/>
          <p:nvPr/>
        </p:nvSpPr>
        <p:spPr>
          <a:xfrm>
            <a:off x="8189326" y="5558206"/>
            <a:ext cx="1040798" cy="461665"/>
          </a:xfrm>
          <a:prstGeom prst="rect">
            <a:avLst/>
          </a:prstGeom>
          <a:noFill/>
        </p:spPr>
        <p:txBody>
          <a:bodyPr wrap="none" rtlCol="0">
            <a:spAutoFit/>
          </a:bodyPr>
          <a:lstStyle/>
          <a:p>
            <a:r>
              <a:rPr lang="en-US" sz="2400" dirty="0">
                <a:solidFill>
                  <a:srgbClr val="002060"/>
                </a:solidFill>
              </a:rPr>
              <a:t>detect</a:t>
            </a:r>
          </a:p>
        </p:txBody>
      </p:sp>
      <p:pic>
        <p:nvPicPr>
          <p:cNvPr id="6" name="Picture 5">
            <a:extLst>
              <a:ext uri="{FF2B5EF4-FFF2-40B4-BE49-F238E27FC236}">
                <a16:creationId xmlns:a16="http://schemas.microsoft.com/office/drawing/2014/main" id="{7911F0ED-01EF-7211-6717-8E9064EC34EE}"/>
              </a:ext>
            </a:extLst>
          </p:cNvPr>
          <p:cNvPicPr>
            <a:picLocks noChangeAspect="1"/>
          </p:cNvPicPr>
          <p:nvPr/>
        </p:nvPicPr>
        <p:blipFill>
          <a:blip r:embed="rId3"/>
          <a:stretch>
            <a:fillRect/>
          </a:stretch>
        </p:blipFill>
        <p:spPr>
          <a:xfrm>
            <a:off x="1205671" y="2777837"/>
            <a:ext cx="9451143" cy="2005547"/>
          </a:xfrm>
          <a:prstGeom prst="rect">
            <a:avLst/>
          </a:prstGeom>
        </p:spPr>
      </p:pic>
      <p:cxnSp>
        <p:nvCxnSpPr>
          <p:cNvPr id="14" name="Straight Arrow Connector 13">
            <a:extLst>
              <a:ext uri="{FF2B5EF4-FFF2-40B4-BE49-F238E27FC236}">
                <a16:creationId xmlns:a16="http://schemas.microsoft.com/office/drawing/2014/main" id="{9D702954-DB86-FF71-C7D7-EC8C192398F1}"/>
              </a:ext>
            </a:extLst>
          </p:cNvPr>
          <p:cNvCxnSpPr>
            <a:cxnSpLocks/>
          </p:cNvCxnSpPr>
          <p:nvPr/>
        </p:nvCxnSpPr>
        <p:spPr>
          <a:xfrm>
            <a:off x="4218045" y="5986513"/>
            <a:ext cx="914400" cy="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99754F1-FFB3-6F73-F6FF-B4206158EF93}"/>
              </a:ext>
            </a:extLst>
          </p:cNvPr>
          <p:cNvSpPr txBox="1"/>
          <p:nvPr/>
        </p:nvSpPr>
        <p:spPr>
          <a:xfrm>
            <a:off x="3339696" y="5789038"/>
            <a:ext cx="627095" cy="461665"/>
          </a:xfrm>
          <a:prstGeom prst="rect">
            <a:avLst/>
          </a:prstGeom>
          <a:noFill/>
        </p:spPr>
        <p:txBody>
          <a:bodyPr wrap="none" rtlCol="0">
            <a:spAutoFit/>
          </a:bodyPr>
          <a:lstStyle/>
          <a:p>
            <a:r>
              <a:rPr lang="en-US" sz="2400" dirty="0" err="1">
                <a:solidFill>
                  <a:srgbClr val="002060"/>
                </a:solidFill>
              </a:rPr>
              <a:t>Clk</a:t>
            </a:r>
            <a:endParaRPr lang="en-US" sz="2400" dirty="0">
              <a:solidFill>
                <a:srgbClr val="002060"/>
              </a:solidFill>
            </a:endParaRPr>
          </a:p>
        </p:txBody>
      </p:sp>
      <p:cxnSp>
        <p:nvCxnSpPr>
          <p:cNvPr id="16" name="Straight Arrow Connector 15">
            <a:extLst>
              <a:ext uri="{FF2B5EF4-FFF2-40B4-BE49-F238E27FC236}">
                <a16:creationId xmlns:a16="http://schemas.microsoft.com/office/drawing/2014/main" id="{1AEE4AE5-9007-459E-C965-F379E443A796}"/>
              </a:ext>
            </a:extLst>
          </p:cNvPr>
          <p:cNvCxnSpPr>
            <a:cxnSpLocks/>
          </p:cNvCxnSpPr>
          <p:nvPr/>
        </p:nvCxnSpPr>
        <p:spPr>
          <a:xfrm>
            <a:off x="4218045" y="6431090"/>
            <a:ext cx="91440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81AC7C75-40A8-96D3-3541-0EFE4690F89D}"/>
              </a:ext>
            </a:extLst>
          </p:cNvPr>
          <p:cNvSpPr txBox="1"/>
          <p:nvPr/>
        </p:nvSpPr>
        <p:spPr>
          <a:xfrm>
            <a:off x="3204395" y="6250703"/>
            <a:ext cx="841897" cy="461665"/>
          </a:xfrm>
          <a:prstGeom prst="rect">
            <a:avLst/>
          </a:prstGeom>
          <a:noFill/>
        </p:spPr>
        <p:txBody>
          <a:bodyPr wrap="none" rtlCol="0">
            <a:spAutoFit/>
          </a:bodyPr>
          <a:lstStyle/>
          <a:p>
            <a:r>
              <a:rPr lang="en-US" sz="2400" dirty="0" err="1">
                <a:solidFill>
                  <a:srgbClr val="002060"/>
                </a:solidFill>
              </a:rPr>
              <a:t>rst_n</a:t>
            </a:r>
            <a:endParaRPr lang="en-US" sz="2400" dirty="0">
              <a:solidFill>
                <a:srgbClr val="002060"/>
              </a:solidFill>
            </a:endParaRPr>
          </a:p>
        </p:txBody>
      </p:sp>
    </p:spTree>
    <p:extLst>
      <p:ext uri="{BB962C8B-B14F-4D97-AF65-F5344CB8AC3E}">
        <p14:creationId xmlns:p14="http://schemas.microsoft.com/office/powerpoint/2010/main" val="1028146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CF48-29B3-0FE8-910F-D17BAF904E39}"/>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010E4C1A-2058-95A9-A163-A683BFA109A0}"/>
              </a:ext>
            </a:extLst>
          </p:cNvPr>
          <p:cNvSpPr>
            <a:spLocks noGrp="1"/>
          </p:cNvSpPr>
          <p:nvPr>
            <p:ph idx="1"/>
          </p:nvPr>
        </p:nvSpPr>
        <p:spPr>
          <a:xfrm>
            <a:off x="838200" y="1825625"/>
            <a:ext cx="7453184" cy="4351338"/>
          </a:xfrm>
        </p:spPr>
        <p:txBody>
          <a:bodyPr>
            <a:normAutofit/>
          </a:bodyPr>
          <a:lstStyle/>
          <a:p>
            <a:pPr marL="0" indent="0">
              <a:lnSpc>
                <a:spcPct val="150000"/>
              </a:lnSpc>
              <a:buNone/>
            </a:pPr>
            <a:r>
              <a:rPr lang="en-US" sz="2200" dirty="0">
                <a:solidFill>
                  <a:srgbClr val="002060"/>
                </a:solidFill>
              </a:rPr>
              <a:t>We need to define some </a:t>
            </a:r>
            <a:r>
              <a:rPr lang="en-US" sz="2200" b="1" i="1" dirty="0">
                <a:solidFill>
                  <a:srgbClr val="002060"/>
                </a:solidFill>
              </a:rPr>
              <a:t>states</a:t>
            </a:r>
            <a:r>
              <a:rPr lang="en-US" sz="2200" dirty="0">
                <a:solidFill>
                  <a:srgbClr val="002060"/>
                </a:solidFill>
              </a:rPr>
              <a:t> for our circuit.</a:t>
            </a:r>
          </a:p>
          <a:p>
            <a:pPr marL="0" indent="0">
              <a:lnSpc>
                <a:spcPct val="150000"/>
              </a:lnSpc>
              <a:buNone/>
            </a:pPr>
            <a:r>
              <a:rPr lang="en-US" sz="2200" dirty="0">
                <a:solidFill>
                  <a:srgbClr val="002060"/>
                </a:solidFill>
              </a:rPr>
              <a:t>In this case, there are 4 states, so we need 2 bits to represent them:</a:t>
            </a:r>
          </a:p>
          <a:p>
            <a:pPr marL="0" indent="0">
              <a:lnSpc>
                <a:spcPct val="150000"/>
              </a:lnSpc>
              <a:buNone/>
            </a:pPr>
            <a:endParaRPr lang="en-US" sz="2200" dirty="0">
              <a:solidFill>
                <a:srgbClr val="002060"/>
              </a:solidFill>
            </a:endParaRPr>
          </a:p>
          <a:p>
            <a:pPr>
              <a:lnSpc>
                <a:spcPct val="150000"/>
              </a:lnSpc>
            </a:pPr>
            <a:r>
              <a:rPr lang="en-US" sz="2200" dirty="0">
                <a:solidFill>
                  <a:srgbClr val="002060"/>
                </a:solidFill>
              </a:rPr>
              <a:t>What we really need to keep track of is the </a:t>
            </a:r>
            <a:r>
              <a:rPr lang="en-US" sz="2200" b="1" i="1" dirty="0">
                <a:solidFill>
                  <a:srgbClr val="002060"/>
                </a:solidFill>
              </a:rPr>
              <a:t>current state</a:t>
            </a:r>
            <a:r>
              <a:rPr lang="en-US" sz="2200" dirty="0">
                <a:solidFill>
                  <a:srgbClr val="002060"/>
                </a:solidFill>
              </a:rPr>
              <a:t> of the circuit. </a:t>
            </a:r>
          </a:p>
        </p:txBody>
      </p:sp>
      <p:sp>
        <p:nvSpPr>
          <p:cNvPr id="4" name="Slide Number Placeholder 3">
            <a:extLst>
              <a:ext uri="{FF2B5EF4-FFF2-40B4-BE49-F238E27FC236}">
                <a16:creationId xmlns:a16="http://schemas.microsoft.com/office/drawing/2014/main" id="{CC9DAB31-CC02-322D-A381-199FD82B26DA}"/>
              </a:ext>
            </a:extLst>
          </p:cNvPr>
          <p:cNvSpPr>
            <a:spLocks noGrp="1"/>
          </p:cNvSpPr>
          <p:nvPr>
            <p:ph type="sldNum" sz="quarter" idx="12"/>
          </p:nvPr>
        </p:nvSpPr>
        <p:spPr/>
        <p:txBody>
          <a:bodyPr/>
          <a:lstStyle/>
          <a:p>
            <a:fld id="{B371FB23-F5EE-40F0-B170-9EA725515109}" type="slidenum">
              <a:rPr lang="en-US" smtClean="0"/>
              <a:t>16</a:t>
            </a:fld>
            <a:endParaRPr lang="en-US"/>
          </a:p>
        </p:txBody>
      </p:sp>
      <p:pic>
        <p:nvPicPr>
          <p:cNvPr id="6" name="Picture 5">
            <a:extLst>
              <a:ext uri="{FF2B5EF4-FFF2-40B4-BE49-F238E27FC236}">
                <a16:creationId xmlns:a16="http://schemas.microsoft.com/office/drawing/2014/main" id="{A0916F7A-7913-5AD9-13BB-4012810A91AE}"/>
              </a:ext>
            </a:extLst>
          </p:cNvPr>
          <p:cNvPicPr>
            <a:picLocks noChangeAspect="1"/>
          </p:cNvPicPr>
          <p:nvPr/>
        </p:nvPicPr>
        <p:blipFill>
          <a:blip r:embed="rId2"/>
          <a:stretch>
            <a:fillRect/>
          </a:stretch>
        </p:blipFill>
        <p:spPr>
          <a:xfrm>
            <a:off x="8931876" y="1690688"/>
            <a:ext cx="2564218" cy="3177619"/>
          </a:xfrm>
          <a:prstGeom prst="rect">
            <a:avLst/>
          </a:prstGeom>
        </p:spPr>
      </p:pic>
      <p:graphicFrame>
        <p:nvGraphicFramePr>
          <p:cNvPr id="7" name="Table 6">
            <a:extLst>
              <a:ext uri="{FF2B5EF4-FFF2-40B4-BE49-F238E27FC236}">
                <a16:creationId xmlns:a16="http://schemas.microsoft.com/office/drawing/2014/main" id="{78F53141-078E-E01E-48BD-8B2B31A053A6}"/>
              </a:ext>
            </a:extLst>
          </p:cNvPr>
          <p:cNvGraphicFramePr>
            <a:graphicFrameLocks noGrp="1"/>
          </p:cNvGraphicFramePr>
          <p:nvPr/>
        </p:nvGraphicFramePr>
        <p:xfrm>
          <a:off x="2003511" y="3540211"/>
          <a:ext cx="5122562" cy="701040"/>
        </p:xfrm>
        <a:graphic>
          <a:graphicData uri="http://schemas.openxmlformats.org/drawingml/2006/table">
            <a:tbl>
              <a:tblPr firstRow="1" bandRow="1">
                <a:tableStyleId>{5940675A-B579-460E-94D1-54222C63F5DA}</a:tableStyleId>
              </a:tblPr>
              <a:tblGrid>
                <a:gridCol w="2408881">
                  <a:extLst>
                    <a:ext uri="{9D8B030D-6E8A-4147-A177-3AD203B41FA5}">
                      <a16:colId xmlns:a16="http://schemas.microsoft.com/office/drawing/2014/main" val="1590711347"/>
                    </a:ext>
                  </a:extLst>
                </a:gridCol>
                <a:gridCol w="2713681">
                  <a:extLst>
                    <a:ext uri="{9D8B030D-6E8A-4147-A177-3AD203B41FA5}">
                      <a16:colId xmlns:a16="http://schemas.microsoft.com/office/drawing/2014/main" val="1331731832"/>
                    </a:ext>
                  </a:extLst>
                </a:gridCol>
              </a:tblGrid>
              <a:tr h="370840">
                <a:tc>
                  <a:txBody>
                    <a:bodyPr/>
                    <a:lstStyle/>
                    <a:p>
                      <a:pPr marL="342900" indent="-342900">
                        <a:buFont typeface="Arial" panose="020B0604020202020204" pitchFamily="34" charset="0"/>
                        <a:buChar char="•"/>
                      </a:pPr>
                      <a:r>
                        <a:rPr lang="en-US" sz="2000" dirty="0">
                          <a:solidFill>
                            <a:srgbClr val="002060"/>
                          </a:solidFill>
                        </a:rPr>
                        <a:t>00 → S0</a:t>
                      </a:r>
                    </a:p>
                    <a:p>
                      <a:pPr marL="342900" indent="-342900">
                        <a:buFont typeface="Arial" panose="020B0604020202020204" pitchFamily="34" charset="0"/>
                        <a:buChar char="•"/>
                      </a:pPr>
                      <a:r>
                        <a:rPr lang="en-US" sz="2000" dirty="0">
                          <a:solidFill>
                            <a:srgbClr val="002060"/>
                          </a:solidFill>
                        </a:rPr>
                        <a:t>01 → S1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342900" indent="-342900">
                        <a:buFont typeface="Arial" panose="020B0604020202020204" pitchFamily="34" charset="0"/>
                        <a:buChar char="•"/>
                      </a:pPr>
                      <a:r>
                        <a:rPr lang="en-US" sz="2000" dirty="0">
                          <a:solidFill>
                            <a:srgbClr val="002060"/>
                          </a:solidFill>
                        </a:rPr>
                        <a:t>10 → S2</a:t>
                      </a:r>
                    </a:p>
                    <a:p>
                      <a:pPr marL="342900" indent="-342900">
                        <a:buFont typeface="Arial" panose="020B0604020202020204" pitchFamily="34" charset="0"/>
                        <a:buChar char="•"/>
                      </a:pPr>
                      <a:r>
                        <a:rPr lang="en-US" sz="2000" dirty="0">
                          <a:solidFill>
                            <a:srgbClr val="002060"/>
                          </a:solidFill>
                        </a:rPr>
                        <a:t>11 → S3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00459432"/>
                  </a:ext>
                </a:extLst>
              </a:tr>
            </a:tbl>
          </a:graphicData>
        </a:graphic>
      </p:graphicFrame>
      <p:sp>
        <p:nvSpPr>
          <p:cNvPr id="8" name="TextBox 7">
            <a:extLst>
              <a:ext uri="{FF2B5EF4-FFF2-40B4-BE49-F238E27FC236}">
                <a16:creationId xmlns:a16="http://schemas.microsoft.com/office/drawing/2014/main" id="{2279144E-8662-3F1C-50C0-EADEADD7B233}"/>
              </a:ext>
            </a:extLst>
          </p:cNvPr>
          <p:cNvSpPr txBox="1"/>
          <p:nvPr/>
        </p:nvSpPr>
        <p:spPr>
          <a:xfrm>
            <a:off x="838200" y="5306562"/>
            <a:ext cx="10515600" cy="105920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200" dirty="0">
                <a:solidFill>
                  <a:srgbClr val="002060"/>
                </a:solidFill>
              </a:rPr>
              <a:t>Based on the </a:t>
            </a:r>
            <a:r>
              <a:rPr lang="en-US" sz="2200" b="1" i="1" dirty="0">
                <a:solidFill>
                  <a:srgbClr val="002060"/>
                </a:solidFill>
              </a:rPr>
              <a:t>current state </a:t>
            </a:r>
            <a:r>
              <a:rPr lang="en-US" sz="2200" dirty="0">
                <a:solidFill>
                  <a:srgbClr val="002060"/>
                </a:solidFill>
              </a:rPr>
              <a:t>and the circuit’s input, we then decide what the </a:t>
            </a:r>
            <a:r>
              <a:rPr lang="en-US" sz="2200" b="1" i="1" dirty="0">
                <a:solidFill>
                  <a:srgbClr val="002060"/>
                </a:solidFill>
              </a:rPr>
              <a:t>next state</a:t>
            </a:r>
            <a:r>
              <a:rPr lang="en-US" sz="2200" dirty="0">
                <a:solidFill>
                  <a:srgbClr val="002060"/>
                </a:solidFill>
              </a:rPr>
              <a:t> should be.</a:t>
            </a:r>
            <a:endParaRPr lang="en-US" sz="2200" dirty="0"/>
          </a:p>
        </p:txBody>
      </p:sp>
    </p:spTree>
    <p:extLst>
      <p:ext uri="{BB962C8B-B14F-4D97-AF65-F5344CB8AC3E}">
        <p14:creationId xmlns:p14="http://schemas.microsoft.com/office/powerpoint/2010/main" val="368038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52B3-62A0-9429-264B-847B2D6FF5A0}"/>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F1DEBB8B-A93B-6AFC-3D00-F74566E4E401}"/>
              </a:ext>
            </a:extLst>
          </p:cNvPr>
          <p:cNvSpPr>
            <a:spLocks noGrp="1"/>
          </p:cNvSpPr>
          <p:nvPr>
            <p:ph idx="1"/>
          </p:nvPr>
        </p:nvSpPr>
        <p:spPr>
          <a:xfrm>
            <a:off x="838199" y="1825625"/>
            <a:ext cx="10777151" cy="4351338"/>
          </a:xfrm>
        </p:spPr>
        <p:txBody>
          <a:bodyPr/>
          <a:lstStyle/>
          <a:p>
            <a:pPr>
              <a:lnSpc>
                <a:spcPct val="150000"/>
              </a:lnSpc>
            </a:pPr>
            <a:r>
              <a:rPr lang="en-US" sz="2400" dirty="0">
                <a:solidFill>
                  <a:srgbClr val="002060"/>
                </a:solidFill>
              </a:rPr>
              <a:t>We need </a:t>
            </a:r>
            <a:r>
              <a:rPr lang="en-US" sz="2400" b="1" dirty="0">
                <a:solidFill>
                  <a:srgbClr val="002060"/>
                </a:solidFill>
              </a:rPr>
              <a:t>two bits </a:t>
            </a:r>
            <a:r>
              <a:rPr lang="en-US" sz="2400" dirty="0">
                <a:solidFill>
                  <a:srgbClr val="002060"/>
                </a:solidFill>
              </a:rPr>
              <a:t>to represent the current state.</a:t>
            </a:r>
          </a:p>
          <a:p>
            <a:pPr>
              <a:lnSpc>
                <a:spcPct val="150000"/>
              </a:lnSpc>
            </a:pPr>
            <a:r>
              <a:rPr lang="en-US" sz="2400" dirty="0">
                <a:solidFill>
                  <a:srgbClr val="002060"/>
                </a:solidFill>
              </a:rPr>
              <a:t>What should its type be? </a:t>
            </a:r>
          </a:p>
          <a:p>
            <a:pPr lvl="1">
              <a:lnSpc>
                <a:spcPct val="150000"/>
              </a:lnSpc>
            </a:pPr>
            <a:r>
              <a:rPr lang="en-US" sz="2000" dirty="0">
                <a:solidFill>
                  <a:srgbClr val="002060"/>
                </a:solidFill>
              </a:rPr>
              <a:t>The possible values we want to assign are S0, S1, S2, and S3.</a:t>
            </a:r>
          </a:p>
          <a:p>
            <a:pPr>
              <a:lnSpc>
                <a:spcPct val="150000"/>
              </a:lnSpc>
            </a:pPr>
            <a:r>
              <a:rPr lang="en-US" sz="2400" dirty="0">
                <a:solidFill>
                  <a:srgbClr val="002060"/>
                </a:solidFill>
              </a:rPr>
              <a:t>One good way to define the current state is to create our own type using </a:t>
            </a:r>
            <a:r>
              <a:rPr lang="en-US" sz="2400" b="1" i="1" dirty="0">
                <a:solidFill>
                  <a:srgbClr val="002060"/>
                </a:solidFill>
              </a:rPr>
              <a:t>typedef</a:t>
            </a:r>
            <a:r>
              <a:rPr lang="en-US" sz="2400" dirty="0">
                <a:solidFill>
                  <a:srgbClr val="002060"/>
                </a:solidFill>
              </a:rPr>
              <a:t> along with </a:t>
            </a:r>
            <a:r>
              <a:rPr lang="en-US" sz="2400" b="1" i="1" dirty="0" err="1">
                <a:solidFill>
                  <a:srgbClr val="002060"/>
                </a:solidFill>
              </a:rPr>
              <a:t>enum</a:t>
            </a:r>
            <a:r>
              <a:rPr lang="en-US" sz="2400" dirty="0">
                <a:solidFill>
                  <a:srgbClr val="002060"/>
                </a:solidFill>
              </a:rPr>
              <a:t>. This makes the code easier to read and understand, since we can work with state names instead of raw binary values.</a:t>
            </a:r>
          </a:p>
          <a:p>
            <a:endParaRPr lang="en-US" dirty="0"/>
          </a:p>
        </p:txBody>
      </p:sp>
      <p:sp>
        <p:nvSpPr>
          <p:cNvPr id="4" name="Slide Number Placeholder 3">
            <a:extLst>
              <a:ext uri="{FF2B5EF4-FFF2-40B4-BE49-F238E27FC236}">
                <a16:creationId xmlns:a16="http://schemas.microsoft.com/office/drawing/2014/main" id="{6DEA02A2-CCA9-462E-B263-7A2B568E18F7}"/>
              </a:ext>
            </a:extLst>
          </p:cNvPr>
          <p:cNvSpPr>
            <a:spLocks noGrp="1"/>
          </p:cNvSpPr>
          <p:nvPr>
            <p:ph type="sldNum" sz="quarter" idx="12"/>
          </p:nvPr>
        </p:nvSpPr>
        <p:spPr/>
        <p:txBody>
          <a:bodyPr/>
          <a:lstStyle/>
          <a:p>
            <a:fld id="{B371FB23-F5EE-40F0-B170-9EA725515109}" type="slidenum">
              <a:rPr lang="en-US" smtClean="0"/>
              <a:t>17</a:t>
            </a:fld>
            <a:endParaRPr lang="en-US"/>
          </a:p>
        </p:txBody>
      </p:sp>
    </p:spTree>
    <p:extLst>
      <p:ext uri="{BB962C8B-B14F-4D97-AF65-F5344CB8AC3E}">
        <p14:creationId xmlns:p14="http://schemas.microsoft.com/office/powerpoint/2010/main" val="125851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11AAB-84AE-0CE0-1272-256EAB15B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74813-D5DE-A3D8-AE05-CBE808FF361B}"/>
              </a:ext>
            </a:extLst>
          </p:cNvPr>
          <p:cNvSpPr>
            <a:spLocks noGrp="1"/>
          </p:cNvSpPr>
          <p:nvPr>
            <p:ph type="title"/>
          </p:nvPr>
        </p:nvSpPr>
        <p:spPr/>
        <p:txBody>
          <a:bodyPr/>
          <a:lstStyle/>
          <a:p>
            <a:r>
              <a:rPr lang="en-US" dirty="0">
                <a:solidFill>
                  <a:schemeClr val="accent1"/>
                </a:solidFill>
              </a:rPr>
              <a:t>Design a State Machine - SystemVerilog</a:t>
            </a:r>
          </a:p>
        </p:txBody>
      </p:sp>
      <p:sp>
        <p:nvSpPr>
          <p:cNvPr id="4" name="Slide Number Placeholder 3">
            <a:extLst>
              <a:ext uri="{FF2B5EF4-FFF2-40B4-BE49-F238E27FC236}">
                <a16:creationId xmlns:a16="http://schemas.microsoft.com/office/drawing/2014/main" id="{9533DFA9-4319-F988-4763-76D6CB34F2D3}"/>
              </a:ext>
            </a:extLst>
          </p:cNvPr>
          <p:cNvSpPr>
            <a:spLocks noGrp="1"/>
          </p:cNvSpPr>
          <p:nvPr>
            <p:ph type="sldNum" sz="quarter" idx="12"/>
          </p:nvPr>
        </p:nvSpPr>
        <p:spPr/>
        <p:txBody>
          <a:bodyPr/>
          <a:lstStyle/>
          <a:p>
            <a:fld id="{B371FB23-F5EE-40F0-B170-9EA725515109}" type="slidenum">
              <a:rPr lang="en-US" smtClean="0"/>
              <a:t>18</a:t>
            </a:fld>
            <a:endParaRPr lang="en-US"/>
          </a:p>
        </p:txBody>
      </p:sp>
      <p:pic>
        <p:nvPicPr>
          <p:cNvPr id="6" name="Picture 5">
            <a:extLst>
              <a:ext uri="{FF2B5EF4-FFF2-40B4-BE49-F238E27FC236}">
                <a16:creationId xmlns:a16="http://schemas.microsoft.com/office/drawing/2014/main" id="{004E52C9-F947-9414-9985-8E482B30B824}"/>
              </a:ext>
            </a:extLst>
          </p:cNvPr>
          <p:cNvPicPr>
            <a:picLocks noChangeAspect="1"/>
          </p:cNvPicPr>
          <p:nvPr/>
        </p:nvPicPr>
        <p:blipFill>
          <a:blip r:embed="rId2"/>
          <a:stretch>
            <a:fillRect/>
          </a:stretch>
        </p:blipFill>
        <p:spPr>
          <a:xfrm>
            <a:off x="838200" y="1979044"/>
            <a:ext cx="6500637" cy="2899911"/>
          </a:xfrm>
          <a:prstGeom prst="rect">
            <a:avLst/>
          </a:prstGeom>
        </p:spPr>
      </p:pic>
      <p:sp>
        <p:nvSpPr>
          <p:cNvPr id="3" name="Content Placeholder 2">
            <a:extLst>
              <a:ext uri="{FF2B5EF4-FFF2-40B4-BE49-F238E27FC236}">
                <a16:creationId xmlns:a16="http://schemas.microsoft.com/office/drawing/2014/main" id="{DB554959-944D-6CE7-F799-D62F4B0CE357}"/>
              </a:ext>
            </a:extLst>
          </p:cNvPr>
          <p:cNvSpPr>
            <a:spLocks noGrp="1"/>
          </p:cNvSpPr>
          <p:nvPr>
            <p:ph idx="1"/>
          </p:nvPr>
        </p:nvSpPr>
        <p:spPr>
          <a:xfrm>
            <a:off x="6437870" y="1825625"/>
            <a:ext cx="5177480" cy="4351338"/>
          </a:xfrm>
        </p:spPr>
        <p:txBody>
          <a:bodyPr/>
          <a:lstStyle/>
          <a:p>
            <a:pPr>
              <a:lnSpc>
                <a:spcPct val="150000"/>
              </a:lnSpc>
            </a:pPr>
            <a:r>
              <a:rPr lang="en-US" sz="2400" dirty="0">
                <a:solidFill>
                  <a:srgbClr val="002060"/>
                </a:solidFill>
              </a:rPr>
              <a:t>In this code, I defined a new type called </a:t>
            </a:r>
            <a:r>
              <a:rPr lang="en-US" sz="2400" b="1" i="1" dirty="0" err="1">
                <a:solidFill>
                  <a:srgbClr val="002060"/>
                </a:solidFill>
              </a:rPr>
              <a:t>state_t</a:t>
            </a:r>
            <a:r>
              <a:rPr lang="en-US" sz="2400" dirty="0">
                <a:solidFill>
                  <a:srgbClr val="002060"/>
                </a:solidFill>
              </a:rPr>
              <a:t>.</a:t>
            </a:r>
          </a:p>
          <a:p>
            <a:pPr>
              <a:lnSpc>
                <a:spcPct val="150000"/>
              </a:lnSpc>
            </a:pPr>
            <a:r>
              <a:rPr lang="en-US" sz="2400" dirty="0">
                <a:solidFill>
                  <a:srgbClr val="002060"/>
                </a:solidFill>
              </a:rPr>
              <a:t>What is </a:t>
            </a:r>
            <a:r>
              <a:rPr lang="en-US" sz="2400" i="1" dirty="0" err="1">
                <a:solidFill>
                  <a:srgbClr val="002060"/>
                </a:solidFill>
              </a:rPr>
              <a:t>state_t</a:t>
            </a:r>
            <a:r>
              <a:rPr lang="en-US" sz="2400" dirty="0">
                <a:solidFill>
                  <a:srgbClr val="002060"/>
                </a:solidFill>
              </a:rPr>
              <a:t>? </a:t>
            </a:r>
          </a:p>
          <a:p>
            <a:pPr lvl="1">
              <a:lnSpc>
                <a:spcPct val="150000"/>
              </a:lnSpc>
            </a:pPr>
            <a:r>
              <a:rPr lang="en-US" dirty="0">
                <a:solidFill>
                  <a:srgbClr val="002060"/>
                </a:solidFill>
              </a:rPr>
              <a:t>It is an enumeration (</a:t>
            </a:r>
            <a:r>
              <a:rPr lang="en-US" dirty="0" err="1">
                <a:solidFill>
                  <a:srgbClr val="002060"/>
                </a:solidFill>
              </a:rPr>
              <a:t>enum</a:t>
            </a:r>
            <a:r>
              <a:rPr lang="en-US" dirty="0">
                <a:solidFill>
                  <a:srgbClr val="002060"/>
                </a:solidFill>
              </a:rPr>
              <a:t>) that uses 2 bits of logic to represent the states: S0, S1, S2, and S3.</a:t>
            </a:r>
          </a:p>
        </p:txBody>
      </p:sp>
    </p:spTree>
    <p:extLst>
      <p:ext uri="{BB962C8B-B14F-4D97-AF65-F5344CB8AC3E}">
        <p14:creationId xmlns:p14="http://schemas.microsoft.com/office/powerpoint/2010/main" val="334969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80C3B-2B95-2DED-01CA-8A54A49C79BC}"/>
              </a:ext>
            </a:extLst>
          </p:cNvPr>
          <p:cNvSpPr>
            <a:spLocks noGrp="1"/>
          </p:cNvSpPr>
          <p:nvPr>
            <p:ph type="title"/>
          </p:nvPr>
        </p:nvSpPr>
        <p:spPr/>
        <p:txBody>
          <a:bodyPr/>
          <a:lstStyle/>
          <a:p>
            <a:r>
              <a:rPr lang="en-US" dirty="0">
                <a:solidFill>
                  <a:schemeClr val="accent1"/>
                </a:solidFill>
              </a:rPr>
              <a:t>Enumerated type </a:t>
            </a:r>
          </a:p>
        </p:txBody>
      </p:sp>
      <p:sp>
        <p:nvSpPr>
          <p:cNvPr id="3" name="Content Placeholder 2">
            <a:extLst>
              <a:ext uri="{FF2B5EF4-FFF2-40B4-BE49-F238E27FC236}">
                <a16:creationId xmlns:a16="http://schemas.microsoft.com/office/drawing/2014/main" id="{A8D8735F-63AC-C26D-8C85-1B653C98B970}"/>
              </a:ext>
            </a:extLst>
          </p:cNvPr>
          <p:cNvSpPr>
            <a:spLocks noGrp="1"/>
          </p:cNvSpPr>
          <p:nvPr>
            <p:ph idx="1"/>
          </p:nvPr>
        </p:nvSpPr>
        <p:spPr>
          <a:xfrm>
            <a:off x="751703" y="1570983"/>
            <a:ext cx="4393130" cy="4351338"/>
          </a:xfrm>
        </p:spPr>
        <p:txBody>
          <a:bodyPr>
            <a:normAutofit/>
          </a:bodyPr>
          <a:lstStyle/>
          <a:p>
            <a:pPr marL="0" indent="0">
              <a:lnSpc>
                <a:spcPct val="150000"/>
              </a:lnSpc>
              <a:buNone/>
            </a:pPr>
            <a:r>
              <a:rPr lang="en-US" sz="2200" dirty="0">
                <a:solidFill>
                  <a:srgbClr val="002060"/>
                </a:solidFill>
              </a:rPr>
              <a:t>An enumerated type defines a set of named values. </a:t>
            </a:r>
          </a:p>
          <a:p>
            <a:pPr>
              <a:lnSpc>
                <a:spcPct val="150000"/>
              </a:lnSpc>
            </a:pPr>
            <a:r>
              <a:rPr lang="en-US" sz="2200" dirty="0">
                <a:solidFill>
                  <a:srgbClr val="002060"/>
                </a:solidFill>
              </a:rPr>
              <a:t>Why do we need enumeration?</a:t>
            </a:r>
          </a:p>
          <a:p>
            <a:pPr lvl="1">
              <a:lnSpc>
                <a:spcPct val="150000"/>
              </a:lnSpc>
            </a:pPr>
            <a:r>
              <a:rPr lang="en-US" sz="2200" dirty="0">
                <a:solidFill>
                  <a:srgbClr val="002060"/>
                </a:solidFill>
              </a:rPr>
              <a:t>To make the code simpler and more readable.</a:t>
            </a:r>
          </a:p>
          <a:p>
            <a:pPr>
              <a:lnSpc>
                <a:spcPct val="150000"/>
              </a:lnSpc>
            </a:pPr>
            <a:r>
              <a:rPr lang="en-US" sz="2200" dirty="0">
                <a:solidFill>
                  <a:srgbClr val="002060"/>
                </a:solidFill>
              </a:rPr>
              <a:t>Consider the following example.</a:t>
            </a:r>
          </a:p>
          <a:p>
            <a:endParaRPr lang="en-US" sz="2200" dirty="0"/>
          </a:p>
        </p:txBody>
      </p:sp>
      <p:sp>
        <p:nvSpPr>
          <p:cNvPr id="4" name="Slide Number Placeholder 3">
            <a:extLst>
              <a:ext uri="{FF2B5EF4-FFF2-40B4-BE49-F238E27FC236}">
                <a16:creationId xmlns:a16="http://schemas.microsoft.com/office/drawing/2014/main" id="{A6C55D0C-501D-691D-9D1E-22B10EF0FBD3}"/>
              </a:ext>
            </a:extLst>
          </p:cNvPr>
          <p:cNvSpPr>
            <a:spLocks noGrp="1"/>
          </p:cNvSpPr>
          <p:nvPr>
            <p:ph type="sldNum" sz="quarter" idx="12"/>
          </p:nvPr>
        </p:nvSpPr>
        <p:spPr/>
        <p:txBody>
          <a:bodyPr/>
          <a:lstStyle/>
          <a:p>
            <a:fld id="{B371FB23-F5EE-40F0-B170-9EA725515109}" type="slidenum">
              <a:rPr lang="en-US" smtClean="0"/>
              <a:t>19</a:t>
            </a:fld>
            <a:endParaRPr lang="en-US"/>
          </a:p>
        </p:txBody>
      </p:sp>
      <p:pic>
        <p:nvPicPr>
          <p:cNvPr id="6" name="Picture 5">
            <a:extLst>
              <a:ext uri="{FF2B5EF4-FFF2-40B4-BE49-F238E27FC236}">
                <a16:creationId xmlns:a16="http://schemas.microsoft.com/office/drawing/2014/main" id="{3CBFB370-CD24-66FC-CA4A-367B7BED4E26}"/>
              </a:ext>
            </a:extLst>
          </p:cNvPr>
          <p:cNvPicPr>
            <a:picLocks noChangeAspect="1"/>
          </p:cNvPicPr>
          <p:nvPr/>
        </p:nvPicPr>
        <p:blipFill>
          <a:blip r:embed="rId2"/>
          <a:stretch>
            <a:fillRect/>
          </a:stretch>
        </p:blipFill>
        <p:spPr>
          <a:xfrm>
            <a:off x="5144833" y="1251559"/>
            <a:ext cx="6110077" cy="2404682"/>
          </a:xfrm>
          <a:prstGeom prst="rect">
            <a:avLst/>
          </a:prstGeom>
        </p:spPr>
      </p:pic>
      <p:pic>
        <p:nvPicPr>
          <p:cNvPr id="7" name="Picture 6">
            <a:extLst>
              <a:ext uri="{FF2B5EF4-FFF2-40B4-BE49-F238E27FC236}">
                <a16:creationId xmlns:a16="http://schemas.microsoft.com/office/drawing/2014/main" id="{CDB8AD7F-5EF6-634A-758A-D2DEBC15F9DB}"/>
              </a:ext>
            </a:extLst>
          </p:cNvPr>
          <p:cNvPicPr>
            <a:picLocks noChangeAspect="1"/>
          </p:cNvPicPr>
          <p:nvPr/>
        </p:nvPicPr>
        <p:blipFill>
          <a:blip r:embed="rId3"/>
          <a:stretch>
            <a:fillRect/>
          </a:stretch>
        </p:blipFill>
        <p:spPr>
          <a:xfrm>
            <a:off x="5144833" y="3823720"/>
            <a:ext cx="6931531" cy="2365151"/>
          </a:xfrm>
          <a:prstGeom prst="rect">
            <a:avLst/>
          </a:prstGeom>
        </p:spPr>
      </p:pic>
    </p:spTree>
    <p:extLst>
      <p:ext uri="{BB962C8B-B14F-4D97-AF65-F5344CB8AC3E}">
        <p14:creationId xmlns:p14="http://schemas.microsoft.com/office/powerpoint/2010/main" val="2296953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14CB6-6CFD-C10B-F7FB-20AC76E0D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931AA-354C-4E70-9506-BB5689BA829C}"/>
              </a:ext>
            </a:extLst>
          </p:cNvPr>
          <p:cNvSpPr>
            <a:spLocks noGrp="1"/>
          </p:cNvSpPr>
          <p:nvPr>
            <p:ph type="title"/>
          </p:nvPr>
        </p:nvSpPr>
        <p:spPr/>
        <p:txBody>
          <a:bodyPr/>
          <a:lstStyle/>
          <a:p>
            <a:r>
              <a:rPr lang="en-US" dirty="0">
                <a:solidFill>
                  <a:schemeClr val="accent1"/>
                </a:solidFill>
              </a:rPr>
              <a:t>Typedef</a:t>
            </a:r>
          </a:p>
        </p:txBody>
      </p:sp>
      <p:sp>
        <p:nvSpPr>
          <p:cNvPr id="3" name="Content Placeholder 2">
            <a:extLst>
              <a:ext uri="{FF2B5EF4-FFF2-40B4-BE49-F238E27FC236}">
                <a16:creationId xmlns:a16="http://schemas.microsoft.com/office/drawing/2014/main" id="{141AD813-2A41-387D-922E-CCD684B232F7}"/>
              </a:ext>
            </a:extLst>
          </p:cNvPr>
          <p:cNvSpPr>
            <a:spLocks noGrp="1"/>
          </p:cNvSpPr>
          <p:nvPr>
            <p:ph idx="1"/>
          </p:nvPr>
        </p:nvSpPr>
        <p:spPr>
          <a:xfrm>
            <a:off x="838200" y="1825625"/>
            <a:ext cx="4203357" cy="4351338"/>
          </a:xfrm>
        </p:spPr>
        <p:txBody>
          <a:bodyPr>
            <a:normAutofit fontScale="92500" lnSpcReduction="20000"/>
          </a:bodyPr>
          <a:lstStyle/>
          <a:p>
            <a:pPr>
              <a:lnSpc>
                <a:spcPct val="150000"/>
              </a:lnSpc>
            </a:pPr>
            <a:r>
              <a:rPr lang="en-US" sz="2400" dirty="0">
                <a:solidFill>
                  <a:srgbClr val="002060"/>
                </a:solidFill>
              </a:rPr>
              <a:t>In SystemVerilog, the </a:t>
            </a:r>
            <a:r>
              <a:rPr lang="en-US" sz="2400" b="1" i="1" dirty="0">
                <a:solidFill>
                  <a:srgbClr val="002060"/>
                </a:solidFill>
              </a:rPr>
              <a:t>typedef </a:t>
            </a:r>
            <a:r>
              <a:rPr lang="en-US" sz="2400" dirty="0">
                <a:solidFill>
                  <a:srgbClr val="002060"/>
                </a:solidFill>
              </a:rPr>
              <a:t>keyword is used to create custom data types or aliases for existing data types. </a:t>
            </a:r>
          </a:p>
          <a:p>
            <a:pPr>
              <a:lnSpc>
                <a:spcPct val="150000"/>
              </a:lnSpc>
            </a:pPr>
            <a:r>
              <a:rPr lang="en-US" sz="2400" dirty="0">
                <a:solidFill>
                  <a:srgbClr val="002060"/>
                </a:solidFill>
              </a:rPr>
              <a:t>This feature enhances code readability, maintainability, and reusability, especially when dealing with complex data structures.</a:t>
            </a:r>
          </a:p>
        </p:txBody>
      </p:sp>
      <p:sp>
        <p:nvSpPr>
          <p:cNvPr id="4" name="Slide Number Placeholder 3">
            <a:extLst>
              <a:ext uri="{FF2B5EF4-FFF2-40B4-BE49-F238E27FC236}">
                <a16:creationId xmlns:a16="http://schemas.microsoft.com/office/drawing/2014/main" id="{8A72EE93-657E-8BB9-D33A-01F4D3C397E1}"/>
              </a:ext>
            </a:extLst>
          </p:cNvPr>
          <p:cNvSpPr>
            <a:spLocks noGrp="1"/>
          </p:cNvSpPr>
          <p:nvPr>
            <p:ph type="sldNum" sz="quarter" idx="12"/>
          </p:nvPr>
        </p:nvSpPr>
        <p:spPr/>
        <p:txBody>
          <a:bodyPr/>
          <a:lstStyle/>
          <a:p>
            <a:fld id="{B371FB23-F5EE-40F0-B170-9EA725515109}" type="slidenum">
              <a:rPr lang="en-US" smtClean="0"/>
              <a:t>20</a:t>
            </a:fld>
            <a:endParaRPr lang="en-US"/>
          </a:p>
        </p:txBody>
      </p:sp>
      <p:pic>
        <p:nvPicPr>
          <p:cNvPr id="5" name="Picture 4">
            <a:extLst>
              <a:ext uri="{FF2B5EF4-FFF2-40B4-BE49-F238E27FC236}">
                <a16:creationId xmlns:a16="http://schemas.microsoft.com/office/drawing/2014/main" id="{6F4786BC-4962-E27E-3C6A-260352904A07}"/>
              </a:ext>
            </a:extLst>
          </p:cNvPr>
          <p:cNvPicPr>
            <a:picLocks noChangeAspect="1"/>
          </p:cNvPicPr>
          <p:nvPr/>
        </p:nvPicPr>
        <p:blipFill>
          <a:blip r:embed="rId2"/>
          <a:stretch>
            <a:fillRect/>
          </a:stretch>
        </p:blipFill>
        <p:spPr>
          <a:xfrm>
            <a:off x="5360281" y="1979044"/>
            <a:ext cx="6500637" cy="2899911"/>
          </a:xfrm>
          <a:prstGeom prst="rect">
            <a:avLst/>
          </a:prstGeom>
        </p:spPr>
      </p:pic>
    </p:spTree>
    <p:extLst>
      <p:ext uri="{BB962C8B-B14F-4D97-AF65-F5344CB8AC3E}">
        <p14:creationId xmlns:p14="http://schemas.microsoft.com/office/powerpoint/2010/main" val="1938206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F29F5-E211-239D-6581-C386C1482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FCF21-D4DC-941A-C01E-69BC3348B09C}"/>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79F32A68-A6E1-5BA8-C340-C6C736DED8E2}"/>
              </a:ext>
            </a:extLst>
          </p:cNvPr>
          <p:cNvSpPr>
            <a:spLocks noGrp="1"/>
          </p:cNvSpPr>
          <p:nvPr>
            <p:ph idx="1"/>
          </p:nvPr>
        </p:nvSpPr>
        <p:spPr/>
        <p:txBody>
          <a:bodyPr>
            <a:normAutofit/>
          </a:bodyPr>
          <a:lstStyle/>
          <a:p>
            <a:pPr marL="0" indent="0">
              <a:lnSpc>
                <a:spcPct val="150000"/>
              </a:lnSpc>
              <a:buNone/>
            </a:pPr>
            <a:r>
              <a:rPr lang="en-US" sz="2200" dirty="0">
                <a:solidFill>
                  <a:srgbClr val="002060"/>
                </a:solidFill>
              </a:rPr>
              <a:t>Now, to define the behavior of our circuit and generate the output (detect), we need two things:</a:t>
            </a:r>
          </a:p>
          <a:p>
            <a:pPr marL="457200" indent="-457200">
              <a:lnSpc>
                <a:spcPct val="150000"/>
              </a:lnSpc>
              <a:buFont typeface="+mj-lt"/>
              <a:buAutoNum type="arabicPeriod"/>
            </a:pPr>
            <a:r>
              <a:rPr lang="en-US" sz="2200" b="1" dirty="0">
                <a:solidFill>
                  <a:srgbClr val="002060"/>
                </a:solidFill>
              </a:rPr>
              <a:t>Updating the state of the machine</a:t>
            </a:r>
          </a:p>
          <a:p>
            <a:pPr marL="457200" indent="-457200">
              <a:lnSpc>
                <a:spcPct val="150000"/>
              </a:lnSpc>
              <a:buFont typeface="+mj-lt"/>
              <a:buAutoNum type="arabicPeriod"/>
            </a:pPr>
            <a:r>
              <a:rPr lang="en-US" sz="2200" b="1" dirty="0">
                <a:solidFill>
                  <a:srgbClr val="002060"/>
                </a:solidFill>
              </a:rPr>
              <a:t>Producing the output</a:t>
            </a:r>
          </a:p>
        </p:txBody>
      </p:sp>
      <p:sp>
        <p:nvSpPr>
          <p:cNvPr id="4" name="Slide Number Placeholder 3">
            <a:extLst>
              <a:ext uri="{FF2B5EF4-FFF2-40B4-BE49-F238E27FC236}">
                <a16:creationId xmlns:a16="http://schemas.microsoft.com/office/drawing/2014/main" id="{9A67C659-5301-76BA-9FE0-EC350025B2F0}"/>
              </a:ext>
            </a:extLst>
          </p:cNvPr>
          <p:cNvSpPr>
            <a:spLocks noGrp="1"/>
          </p:cNvSpPr>
          <p:nvPr>
            <p:ph type="sldNum" sz="quarter" idx="12"/>
          </p:nvPr>
        </p:nvSpPr>
        <p:spPr/>
        <p:txBody>
          <a:bodyPr/>
          <a:lstStyle/>
          <a:p>
            <a:fld id="{B371FB23-F5EE-40F0-B170-9EA725515109}" type="slidenum">
              <a:rPr lang="en-US" smtClean="0"/>
              <a:t>21</a:t>
            </a:fld>
            <a:endParaRPr lang="en-US"/>
          </a:p>
        </p:txBody>
      </p:sp>
    </p:spTree>
    <p:extLst>
      <p:ext uri="{BB962C8B-B14F-4D97-AF65-F5344CB8AC3E}">
        <p14:creationId xmlns:p14="http://schemas.microsoft.com/office/powerpoint/2010/main" val="2100864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B62A-756C-DCAD-2781-8E7384D9809D}"/>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EE466301-06D0-8479-AF16-0F5B30311A20}"/>
              </a:ext>
            </a:extLst>
          </p:cNvPr>
          <p:cNvSpPr>
            <a:spLocks noGrp="1"/>
          </p:cNvSpPr>
          <p:nvPr>
            <p:ph idx="1"/>
          </p:nvPr>
        </p:nvSpPr>
        <p:spPr/>
        <p:txBody>
          <a:bodyPr>
            <a:normAutofit lnSpcReduction="10000"/>
          </a:bodyPr>
          <a:lstStyle/>
          <a:p>
            <a:pPr marL="0" indent="0">
              <a:lnSpc>
                <a:spcPct val="150000"/>
              </a:lnSpc>
              <a:buNone/>
            </a:pPr>
            <a:r>
              <a:rPr lang="en-US" sz="2200" dirty="0">
                <a:solidFill>
                  <a:srgbClr val="002060"/>
                </a:solidFill>
              </a:rPr>
              <a:t>Now, to define the behavior of our circuit and generate the output (detect), we need two things:</a:t>
            </a:r>
          </a:p>
          <a:p>
            <a:pPr marL="457200" indent="-457200">
              <a:lnSpc>
                <a:spcPct val="150000"/>
              </a:lnSpc>
              <a:buFont typeface="+mj-lt"/>
              <a:buAutoNum type="arabicPeriod"/>
            </a:pPr>
            <a:r>
              <a:rPr lang="en-US" sz="2200" b="1" dirty="0">
                <a:solidFill>
                  <a:srgbClr val="002060"/>
                </a:solidFill>
              </a:rPr>
              <a:t>Updating the state of the machine</a:t>
            </a:r>
          </a:p>
          <a:p>
            <a:pPr lvl="1">
              <a:lnSpc>
                <a:spcPct val="150000"/>
              </a:lnSpc>
            </a:pPr>
            <a:r>
              <a:rPr lang="en-US" sz="2200" dirty="0">
                <a:solidFill>
                  <a:srgbClr val="002060"/>
                </a:solidFill>
              </a:rPr>
              <a:t>The current state must be stored somewhere, so we use memory elements (two flip-flops) to record it.</a:t>
            </a:r>
          </a:p>
          <a:p>
            <a:pPr lvl="1">
              <a:lnSpc>
                <a:spcPct val="150000"/>
              </a:lnSpc>
            </a:pPr>
            <a:r>
              <a:rPr lang="en-US" sz="2200" dirty="0">
                <a:solidFill>
                  <a:srgbClr val="002060"/>
                </a:solidFill>
              </a:rPr>
              <a:t>At each clock cycle, the flip-flops update the current state (state) with the new value, called the next state.</a:t>
            </a:r>
          </a:p>
          <a:p>
            <a:pPr lvl="1">
              <a:lnSpc>
                <a:spcPct val="150000"/>
              </a:lnSpc>
            </a:pPr>
            <a:r>
              <a:rPr lang="en-US" sz="2200" dirty="0">
                <a:solidFill>
                  <a:srgbClr val="002060"/>
                </a:solidFill>
              </a:rPr>
              <a:t>Later, we will decide how to assign values to this </a:t>
            </a:r>
            <a:r>
              <a:rPr lang="en-US" sz="2200" dirty="0" err="1">
                <a:solidFill>
                  <a:srgbClr val="002060"/>
                </a:solidFill>
              </a:rPr>
              <a:t>next_state</a:t>
            </a:r>
            <a:r>
              <a:rPr lang="en-US" sz="2200" dirty="0">
                <a:solidFill>
                  <a:srgbClr val="002060"/>
                </a:solidFill>
              </a:rPr>
              <a:t> variable.</a:t>
            </a:r>
          </a:p>
        </p:txBody>
      </p:sp>
      <p:sp>
        <p:nvSpPr>
          <p:cNvPr id="4" name="Slide Number Placeholder 3">
            <a:extLst>
              <a:ext uri="{FF2B5EF4-FFF2-40B4-BE49-F238E27FC236}">
                <a16:creationId xmlns:a16="http://schemas.microsoft.com/office/drawing/2014/main" id="{929F9197-0325-6832-AE04-27EDDF49BBA0}"/>
              </a:ext>
            </a:extLst>
          </p:cNvPr>
          <p:cNvSpPr>
            <a:spLocks noGrp="1"/>
          </p:cNvSpPr>
          <p:nvPr>
            <p:ph type="sldNum" sz="quarter" idx="12"/>
          </p:nvPr>
        </p:nvSpPr>
        <p:spPr/>
        <p:txBody>
          <a:bodyPr/>
          <a:lstStyle/>
          <a:p>
            <a:fld id="{B371FB23-F5EE-40F0-B170-9EA725515109}" type="slidenum">
              <a:rPr lang="en-US" smtClean="0"/>
              <a:t>22</a:t>
            </a:fld>
            <a:endParaRPr lang="en-US"/>
          </a:p>
        </p:txBody>
      </p:sp>
    </p:spTree>
    <p:extLst>
      <p:ext uri="{BB962C8B-B14F-4D97-AF65-F5344CB8AC3E}">
        <p14:creationId xmlns:p14="http://schemas.microsoft.com/office/powerpoint/2010/main" val="3166168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02B87-DA57-06F3-668A-F6025FE2F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057B2-293A-AD22-859F-51EAD0AA5EE0}"/>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B524D033-FF80-08D9-F3B4-300620F1538D}"/>
              </a:ext>
            </a:extLst>
          </p:cNvPr>
          <p:cNvSpPr>
            <a:spLocks noGrp="1"/>
          </p:cNvSpPr>
          <p:nvPr>
            <p:ph idx="1"/>
          </p:nvPr>
        </p:nvSpPr>
        <p:spPr/>
        <p:txBody>
          <a:bodyPr>
            <a:normAutofit/>
          </a:bodyPr>
          <a:lstStyle/>
          <a:p>
            <a:pPr marL="0" indent="0">
              <a:lnSpc>
                <a:spcPct val="150000"/>
              </a:lnSpc>
              <a:buNone/>
            </a:pPr>
            <a:r>
              <a:rPr lang="en-US" sz="2200" dirty="0">
                <a:solidFill>
                  <a:srgbClr val="002060"/>
                </a:solidFill>
              </a:rPr>
              <a:t>Now, to define the behavior of our circuit and generate the output (detect), we need two things:</a:t>
            </a:r>
          </a:p>
          <a:p>
            <a:pPr marL="457200" indent="-457200">
              <a:lnSpc>
                <a:spcPct val="150000"/>
              </a:lnSpc>
              <a:buFont typeface="+mj-lt"/>
              <a:buAutoNum type="arabicPeriod"/>
            </a:pPr>
            <a:r>
              <a:rPr lang="en-US" sz="2200" b="1" dirty="0">
                <a:solidFill>
                  <a:srgbClr val="002060"/>
                </a:solidFill>
              </a:rPr>
              <a:t>Updating the state of the machine</a:t>
            </a:r>
          </a:p>
        </p:txBody>
      </p:sp>
      <p:sp>
        <p:nvSpPr>
          <p:cNvPr id="4" name="Slide Number Placeholder 3">
            <a:extLst>
              <a:ext uri="{FF2B5EF4-FFF2-40B4-BE49-F238E27FC236}">
                <a16:creationId xmlns:a16="http://schemas.microsoft.com/office/drawing/2014/main" id="{3956B750-AE3B-0A63-385F-D608074D04D2}"/>
              </a:ext>
            </a:extLst>
          </p:cNvPr>
          <p:cNvSpPr>
            <a:spLocks noGrp="1"/>
          </p:cNvSpPr>
          <p:nvPr>
            <p:ph type="sldNum" sz="quarter" idx="12"/>
          </p:nvPr>
        </p:nvSpPr>
        <p:spPr/>
        <p:txBody>
          <a:bodyPr/>
          <a:lstStyle/>
          <a:p>
            <a:fld id="{B371FB23-F5EE-40F0-B170-9EA725515109}" type="slidenum">
              <a:rPr lang="en-US" smtClean="0"/>
              <a:t>23</a:t>
            </a:fld>
            <a:endParaRPr lang="en-US"/>
          </a:p>
        </p:txBody>
      </p:sp>
      <p:pic>
        <p:nvPicPr>
          <p:cNvPr id="6" name="Picture 5">
            <a:extLst>
              <a:ext uri="{FF2B5EF4-FFF2-40B4-BE49-F238E27FC236}">
                <a16:creationId xmlns:a16="http://schemas.microsoft.com/office/drawing/2014/main" id="{BCF0FD19-F6DA-8550-0013-FBD675F050C2}"/>
              </a:ext>
            </a:extLst>
          </p:cNvPr>
          <p:cNvPicPr>
            <a:picLocks noChangeAspect="1"/>
          </p:cNvPicPr>
          <p:nvPr/>
        </p:nvPicPr>
        <p:blipFill>
          <a:blip r:embed="rId2"/>
          <a:stretch>
            <a:fillRect/>
          </a:stretch>
        </p:blipFill>
        <p:spPr>
          <a:xfrm>
            <a:off x="2447486" y="3765139"/>
            <a:ext cx="7116643" cy="2294100"/>
          </a:xfrm>
          <a:prstGeom prst="rect">
            <a:avLst/>
          </a:prstGeom>
        </p:spPr>
      </p:pic>
    </p:spTree>
    <p:extLst>
      <p:ext uri="{BB962C8B-B14F-4D97-AF65-F5344CB8AC3E}">
        <p14:creationId xmlns:p14="http://schemas.microsoft.com/office/powerpoint/2010/main" val="1579712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3AB48-A504-5FF5-9A85-72DB806B3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83AF3-FDD1-8BC7-63FA-7C1580891CC7}"/>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5510107A-A3C4-EE3F-CE73-767AE628AC6E}"/>
              </a:ext>
            </a:extLst>
          </p:cNvPr>
          <p:cNvSpPr>
            <a:spLocks noGrp="1"/>
          </p:cNvSpPr>
          <p:nvPr>
            <p:ph idx="1"/>
          </p:nvPr>
        </p:nvSpPr>
        <p:spPr/>
        <p:txBody>
          <a:bodyPr>
            <a:normAutofit/>
          </a:bodyPr>
          <a:lstStyle/>
          <a:p>
            <a:pPr marL="0" indent="0">
              <a:lnSpc>
                <a:spcPct val="150000"/>
              </a:lnSpc>
              <a:buNone/>
            </a:pPr>
            <a:r>
              <a:rPr lang="en-US" sz="2200" dirty="0">
                <a:solidFill>
                  <a:srgbClr val="002060"/>
                </a:solidFill>
              </a:rPr>
              <a:t>Now, to define the behavior of our circuit and generate the output (detect), we need two things:</a:t>
            </a:r>
          </a:p>
          <a:p>
            <a:pPr marL="457200" indent="-457200">
              <a:lnSpc>
                <a:spcPct val="150000"/>
              </a:lnSpc>
              <a:buFont typeface="+mj-lt"/>
              <a:buAutoNum type="arabicPeriod"/>
            </a:pPr>
            <a:r>
              <a:rPr lang="en-US" sz="2200" b="1" dirty="0">
                <a:solidFill>
                  <a:srgbClr val="002060"/>
                </a:solidFill>
              </a:rPr>
              <a:t>Updating the state of the machine</a:t>
            </a:r>
          </a:p>
          <a:p>
            <a:pPr marL="457200" indent="-457200">
              <a:lnSpc>
                <a:spcPct val="150000"/>
              </a:lnSpc>
              <a:buFont typeface="+mj-lt"/>
              <a:buAutoNum type="arabicPeriod"/>
            </a:pPr>
            <a:r>
              <a:rPr lang="en-US" sz="2200" b="1" dirty="0">
                <a:solidFill>
                  <a:srgbClr val="002060"/>
                </a:solidFill>
              </a:rPr>
              <a:t>Producing the output</a:t>
            </a:r>
          </a:p>
          <a:p>
            <a:pPr lvl="1">
              <a:lnSpc>
                <a:spcPct val="150000"/>
              </a:lnSpc>
            </a:pPr>
            <a:r>
              <a:rPr lang="en-US" sz="2200" dirty="0">
                <a:solidFill>
                  <a:srgbClr val="002060"/>
                </a:solidFill>
              </a:rPr>
              <a:t>The output </a:t>
            </a:r>
            <a:r>
              <a:rPr lang="en-US" sz="2200" i="1" dirty="0">
                <a:solidFill>
                  <a:srgbClr val="002060"/>
                </a:solidFill>
              </a:rPr>
              <a:t>detect</a:t>
            </a:r>
            <a:r>
              <a:rPr lang="en-US" sz="2200" dirty="0">
                <a:solidFill>
                  <a:srgbClr val="002060"/>
                </a:solidFill>
              </a:rPr>
              <a:t> will depend on the current state.</a:t>
            </a:r>
          </a:p>
        </p:txBody>
      </p:sp>
      <p:sp>
        <p:nvSpPr>
          <p:cNvPr id="4" name="Slide Number Placeholder 3">
            <a:extLst>
              <a:ext uri="{FF2B5EF4-FFF2-40B4-BE49-F238E27FC236}">
                <a16:creationId xmlns:a16="http://schemas.microsoft.com/office/drawing/2014/main" id="{B60CD889-37EF-E991-1ADB-A34CA80BA50B}"/>
              </a:ext>
            </a:extLst>
          </p:cNvPr>
          <p:cNvSpPr>
            <a:spLocks noGrp="1"/>
          </p:cNvSpPr>
          <p:nvPr>
            <p:ph type="sldNum" sz="quarter" idx="12"/>
          </p:nvPr>
        </p:nvSpPr>
        <p:spPr/>
        <p:txBody>
          <a:bodyPr/>
          <a:lstStyle/>
          <a:p>
            <a:fld id="{B371FB23-F5EE-40F0-B170-9EA725515109}" type="slidenum">
              <a:rPr lang="en-US" smtClean="0"/>
              <a:t>24</a:t>
            </a:fld>
            <a:endParaRPr lang="en-US"/>
          </a:p>
        </p:txBody>
      </p:sp>
    </p:spTree>
    <p:extLst>
      <p:ext uri="{BB962C8B-B14F-4D97-AF65-F5344CB8AC3E}">
        <p14:creationId xmlns:p14="http://schemas.microsoft.com/office/powerpoint/2010/main" val="745858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1CE9A-5809-38C8-1ACB-67D485AFA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0883F-BF49-7C1C-1BC6-DAC8A1F9531D}"/>
              </a:ext>
            </a:extLst>
          </p:cNvPr>
          <p:cNvSpPr>
            <a:spLocks noGrp="1"/>
          </p:cNvSpPr>
          <p:nvPr>
            <p:ph type="title"/>
          </p:nvPr>
        </p:nvSpPr>
        <p:spPr/>
        <p:txBody>
          <a:bodyPr/>
          <a:lstStyle/>
          <a:p>
            <a:r>
              <a:rPr lang="en-US" dirty="0">
                <a:solidFill>
                  <a:schemeClr val="accent1"/>
                </a:solidFill>
              </a:rPr>
              <a:t>Design a State Machine - SystemVerilog</a:t>
            </a:r>
          </a:p>
        </p:txBody>
      </p:sp>
      <p:sp>
        <p:nvSpPr>
          <p:cNvPr id="3" name="Content Placeholder 2">
            <a:extLst>
              <a:ext uri="{FF2B5EF4-FFF2-40B4-BE49-F238E27FC236}">
                <a16:creationId xmlns:a16="http://schemas.microsoft.com/office/drawing/2014/main" id="{76D4A042-C629-A52E-7468-55AC48C7F676}"/>
              </a:ext>
            </a:extLst>
          </p:cNvPr>
          <p:cNvSpPr>
            <a:spLocks noGrp="1"/>
          </p:cNvSpPr>
          <p:nvPr>
            <p:ph idx="1"/>
          </p:nvPr>
        </p:nvSpPr>
        <p:spPr/>
        <p:txBody>
          <a:bodyPr>
            <a:normAutofit/>
          </a:bodyPr>
          <a:lstStyle/>
          <a:p>
            <a:pPr marL="0" indent="0">
              <a:lnSpc>
                <a:spcPct val="150000"/>
              </a:lnSpc>
              <a:buNone/>
            </a:pPr>
            <a:r>
              <a:rPr lang="en-US" sz="2200" dirty="0">
                <a:solidFill>
                  <a:srgbClr val="002060"/>
                </a:solidFill>
              </a:rPr>
              <a:t>Now, to define the behavior of our circuit and generate the output (detect), we need two things:</a:t>
            </a:r>
          </a:p>
          <a:p>
            <a:pPr marL="457200" indent="-457200">
              <a:lnSpc>
                <a:spcPct val="150000"/>
              </a:lnSpc>
              <a:buFont typeface="+mj-lt"/>
              <a:buAutoNum type="arabicPeriod"/>
            </a:pPr>
            <a:r>
              <a:rPr lang="en-US" sz="2200" b="1" dirty="0">
                <a:solidFill>
                  <a:srgbClr val="002060"/>
                </a:solidFill>
              </a:rPr>
              <a:t>Updating the state of the machine</a:t>
            </a:r>
          </a:p>
          <a:p>
            <a:pPr marL="457200" indent="-457200">
              <a:lnSpc>
                <a:spcPct val="150000"/>
              </a:lnSpc>
              <a:buFont typeface="+mj-lt"/>
              <a:buAutoNum type="arabicPeriod"/>
            </a:pPr>
            <a:r>
              <a:rPr lang="en-US" sz="2200" b="1" dirty="0">
                <a:solidFill>
                  <a:srgbClr val="002060"/>
                </a:solidFill>
              </a:rPr>
              <a:t>Producing the output</a:t>
            </a:r>
          </a:p>
        </p:txBody>
      </p:sp>
      <p:sp>
        <p:nvSpPr>
          <p:cNvPr id="4" name="Slide Number Placeholder 3">
            <a:extLst>
              <a:ext uri="{FF2B5EF4-FFF2-40B4-BE49-F238E27FC236}">
                <a16:creationId xmlns:a16="http://schemas.microsoft.com/office/drawing/2014/main" id="{29E4792F-D965-438D-8035-A953700EC0D2}"/>
              </a:ext>
            </a:extLst>
          </p:cNvPr>
          <p:cNvSpPr>
            <a:spLocks noGrp="1"/>
          </p:cNvSpPr>
          <p:nvPr>
            <p:ph type="sldNum" sz="quarter" idx="12"/>
          </p:nvPr>
        </p:nvSpPr>
        <p:spPr/>
        <p:txBody>
          <a:bodyPr/>
          <a:lstStyle/>
          <a:p>
            <a:fld id="{B371FB23-F5EE-40F0-B170-9EA725515109}" type="slidenum">
              <a:rPr lang="en-US" smtClean="0"/>
              <a:t>25</a:t>
            </a:fld>
            <a:endParaRPr lang="en-US"/>
          </a:p>
        </p:txBody>
      </p:sp>
      <p:pic>
        <p:nvPicPr>
          <p:cNvPr id="5" name="Picture 4">
            <a:extLst>
              <a:ext uri="{FF2B5EF4-FFF2-40B4-BE49-F238E27FC236}">
                <a16:creationId xmlns:a16="http://schemas.microsoft.com/office/drawing/2014/main" id="{2F2CDA3B-6CCB-4623-90A0-CAC6D5B32518}"/>
              </a:ext>
            </a:extLst>
          </p:cNvPr>
          <p:cNvPicPr>
            <a:picLocks noChangeAspect="1"/>
          </p:cNvPicPr>
          <p:nvPr/>
        </p:nvPicPr>
        <p:blipFill>
          <a:blip r:embed="rId2"/>
          <a:stretch>
            <a:fillRect/>
          </a:stretch>
        </p:blipFill>
        <p:spPr>
          <a:xfrm>
            <a:off x="2300869" y="4542871"/>
            <a:ext cx="4655986" cy="886854"/>
          </a:xfrm>
          <a:prstGeom prst="rect">
            <a:avLst/>
          </a:prstGeom>
        </p:spPr>
      </p:pic>
    </p:spTree>
    <p:extLst>
      <p:ext uri="{BB962C8B-B14F-4D97-AF65-F5344CB8AC3E}">
        <p14:creationId xmlns:p14="http://schemas.microsoft.com/office/powerpoint/2010/main" val="3635989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8DC3FC8-63D7-34A8-FDA4-A24D5E82F383}"/>
              </a:ext>
            </a:extLst>
          </p:cNvPr>
          <p:cNvPicPr>
            <a:picLocks noGrp="1" noChangeAspect="1"/>
          </p:cNvPicPr>
          <p:nvPr>
            <p:ph idx="1"/>
          </p:nvPr>
        </p:nvPicPr>
        <p:blipFill>
          <a:blip r:embed="rId2"/>
          <a:stretch>
            <a:fillRect/>
          </a:stretch>
        </p:blipFill>
        <p:spPr>
          <a:xfrm>
            <a:off x="838200" y="3706150"/>
            <a:ext cx="8688206" cy="2769991"/>
          </a:xfrm>
          <a:prstGeom prst="rect">
            <a:avLst/>
          </a:prstGeom>
        </p:spPr>
      </p:pic>
      <p:sp>
        <p:nvSpPr>
          <p:cNvPr id="2" name="Title 1">
            <a:extLst>
              <a:ext uri="{FF2B5EF4-FFF2-40B4-BE49-F238E27FC236}">
                <a16:creationId xmlns:a16="http://schemas.microsoft.com/office/drawing/2014/main" id="{C69075AC-F25A-4E9B-ED75-B3A5A72A3240}"/>
              </a:ext>
            </a:extLst>
          </p:cNvPr>
          <p:cNvSpPr>
            <a:spLocks noGrp="1"/>
          </p:cNvSpPr>
          <p:nvPr>
            <p:ph type="title"/>
          </p:nvPr>
        </p:nvSpPr>
        <p:spPr/>
        <p:txBody>
          <a:bodyPr/>
          <a:lstStyle/>
          <a:p>
            <a:r>
              <a:rPr lang="en-US" dirty="0">
                <a:solidFill>
                  <a:schemeClr val="accent1"/>
                </a:solidFill>
              </a:rPr>
              <a:t>Design a State Machine - SystemVerilog</a:t>
            </a:r>
          </a:p>
        </p:txBody>
      </p:sp>
      <p:sp>
        <p:nvSpPr>
          <p:cNvPr id="4" name="Slide Number Placeholder 3">
            <a:extLst>
              <a:ext uri="{FF2B5EF4-FFF2-40B4-BE49-F238E27FC236}">
                <a16:creationId xmlns:a16="http://schemas.microsoft.com/office/drawing/2014/main" id="{7B815D7F-8B95-C8AC-D8FB-3F055D05E790}"/>
              </a:ext>
            </a:extLst>
          </p:cNvPr>
          <p:cNvSpPr>
            <a:spLocks noGrp="1"/>
          </p:cNvSpPr>
          <p:nvPr>
            <p:ph type="sldNum" sz="quarter" idx="12"/>
          </p:nvPr>
        </p:nvSpPr>
        <p:spPr/>
        <p:txBody>
          <a:bodyPr/>
          <a:lstStyle/>
          <a:p>
            <a:fld id="{B371FB23-F5EE-40F0-B170-9EA725515109}" type="slidenum">
              <a:rPr lang="en-US" smtClean="0"/>
              <a:t>26</a:t>
            </a:fld>
            <a:endParaRPr lang="en-US"/>
          </a:p>
        </p:txBody>
      </p:sp>
      <p:sp>
        <p:nvSpPr>
          <p:cNvPr id="7" name="Content Placeholder 2">
            <a:extLst>
              <a:ext uri="{FF2B5EF4-FFF2-40B4-BE49-F238E27FC236}">
                <a16:creationId xmlns:a16="http://schemas.microsoft.com/office/drawing/2014/main" id="{6A548308-7AC2-82EE-379B-136113AA19AD}"/>
              </a:ext>
            </a:extLst>
          </p:cNvPr>
          <p:cNvSpPr txBox="1">
            <a:spLocks/>
          </p:cNvSpPr>
          <p:nvPr/>
        </p:nvSpPr>
        <p:spPr>
          <a:xfrm>
            <a:off x="838200" y="1825625"/>
            <a:ext cx="763952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2400" dirty="0">
                <a:solidFill>
                  <a:srgbClr val="002060"/>
                </a:solidFill>
              </a:rPr>
              <a:t>For the next state we can follow the state diagram and use </a:t>
            </a:r>
            <a:r>
              <a:rPr lang="en-US" sz="2400" b="1" i="1" dirty="0">
                <a:solidFill>
                  <a:srgbClr val="002060"/>
                </a:solidFill>
              </a:rPr>
              <a:t>Case statement.</a:t>
            </a:r>
          </a:p>
        </p:txBody>
      </p:sp>
      <p:pic>
        <p:nvPicPr>
          <p:cNvPr id="8" name="Picture 7">
            <a:extLst>
              <a:ext uri="{FF2B5EF4-FFF2-40B4-BE49-F238E27FC236}">
                <a16:creationId xmlns:a16="http://schemas.microsoft.com/office/drawing/2014/main" id="{7BB4E17B-E435-7F32-A805-E27DD1D64F4F}"/>
              </a:ext>
            </a:extLst>
          </p:cNvPr>
          <p:cNvPicPr>
            <a:picLocks noChangeAspect="1"/>
          </p:cNvPicPr>
          <p:nvPr/>
        </p:nvPicPr>
        <p:blipFill>
          <a:blip r:embed="rId3"/>
          <a:stretch>
            <a:fillRect/>
          </a:stretch>
        </p:blipFill>
        <p:spPr>
          <a:xfrm>
            <a:off x="8700091" y="2077714"/>
            <a:ext cx="2564218" cy="3177619"/>
          </a:xfrm>
          <a:prstGeom prst="rect">
            <a:avLst/>
          </a:prstGeom>
        </p:spPr>
      </p:pic>
    </p:spTree>
    <p:extLst>
      <p:ext uri="{BB962C8B-B14F-4D97-AF65-F5344CB8AC3E}">
        <p14:creationId xmlns:p14="http://schemas.microsoft.com/office/powerpoint/2010/main" val="3751220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BAA8B-FEFA-3AF3-D15C-EFB081AA8974}"/>
              </a:ext>
            </a:extLst>
          </p:cNvPr>
          <p:cNvSpPr>
            <a:spLocks noGrp="1"/>
          </p:cNvSpPr>
          <p:nvPr>
            <p:ph type="title"/>
          </p:nvPr>
        </p:nvSpPr>
        <p:spPr/>
        <p:txBody>
          <a:bodyPr/>
          <a:lstStyle/>
          <a:p>
            <a:r>
              <a:rPr lang="en-US" dirty="0">
                <a:solidFill>
                  <a:schemeClr val="accent1"/>
                </a:solidFill>
              </a:rPr>
              <a:t>Case Statement</a:t>
            </a:r>
          </a:p>
        </p:txBody>
      </p:sp>
      <p:sp>
        <p:nvSpPr>
          <p:cNvPr id="3" name="Content Placeholder 2">
            <a:extLst>
              <a:ext uri="{FF2B5EF4-FFF2-40B4-BE49-F238E27FC236}">
                <a16:creationId xmlns:a16="http://schemas.microsoft.com/office/drawing/2014/main" id="{E07997F2-0004-B25E-1982-3B1CAFB24433}"/>
              </a:ext>
            </a:extLst>
          </p:cNvPr>
          <p:cNvSpPr>
            <a:spLocks noGrp="1"/>
          </p:cNvSpPr>
          <p:nvPr>
            <p:ph idx="1"/>
          </p:nvPr>
        </p:nvSpPr>
        <p:spPr/>
        <p:txBody>
          <a:bodyPr/>
          <a:lstStyle/>
          <a:p>
            <a:pPr>
              <a:lnSpc>
                <a:spcPct val="150000"/>
              </a:lnSpc>
            </a:pPr>
            <a:r>
              <a:rPr lang="en-US" sz="2400" dirty="0">
                <a:solidFill>
                  <a:srgbClr val="002060"/>
                </a:solidFill>
              </a:rPr>
              <a:t>The case statement checks if the given expression matches one of the other expressions in the list and branches accordingly. </a:t>
            </a:r>
          </a:p>
          <a:p>
            <a:pPr>
              <a:lnSpc>
                <a:spcPct val="150000"/>
              </a:lnSpc>
            </a:pPr>
            <a:r>
              <a:rPr lang="en-US" sz="2400" dirty="0">
                <a:solidFill>
                  <a:srgbClr val="002060"/>
                </a:solidFill>
              </a:rPr>
              <a:t>It is typically used to implement a multiplexer. </a:t>
            </a:r>
          </a:p>
          <a:p>
            <a:pPr>
              <a:lnSpc>
                <a:spcPct val="150000"/>
              </a:lnSpc>
            </a:pPr>
            <a:r>
              <a:rPr lang="en-US" sz="2400">
                <a:solidFill>
                  <a:srgbClr val="002060"/>
                </a:solidFill>
              </a:rPr>
              <a:t>The </a:t>
            </a:r>
            <a:r>
              <a:rPr lang="en-US" sz="2400" dirty="0">
                <a:solidFill>
                  <a:srgbClr val="002060"/>
                </a:solidFill>
              </a:rPr>
              <a:t>if-else construct may not be suitable if there are many conditions to </a:t>
            </a:r>
            <a:r>
              <a:rPr lang="en-US" sz="2400">
                <a:solidFill>
                  <a:srgbClr val="002060"/>
                </a:solidFill>
              </a:rPr>
              <a:t>be checked.</a:t>
            </a:r>
            <a:endParaRPr lang="en-US" sz="2400" dirty="0">
              <a:solidFill>
                <a:srgbClr val="002060"/>
              </a:solidFill>
            </a:endParaRPr>
          </a:p>
        </p:txBody>
      </p:sp>
      <p:sp>
        <p:nvSpPr>
          <p:cNvPr id="4" name="Slide Number Placeholder 3">
            <a:extLst>
              <a:ext uri="{FF2B5EF4-FFF2-40B4-BE49-F238E27FC236}">
                <a16:creationId xmlns:a16="http://schemas.microsoft.com/office/drawing/2014/main" id="{A4F57127-47A2-5A0C-2DC5-4E00573BA431}"/>
              </a:ext>
            </a:extLst>
          </p:cNvPr>
          <p:cNvSpPr>
            <a:spLocks noGrp="1"/>
          </p:cNvSpPr>
          <p:nvPr>
            <p:ph type="sldNum" sz="quarter" idx="12"/>
          </p:nvPr>
        </p:nvSpPr>
        <p:spPr/>
        <p:txBody>
          <a:bodyPr/>
          <a:lstStyle/>
          <a:p>
            <a:fld id="{B371FB23-F5EE-40F0-B170-9EA725515109}" type="slidenum">
              <a:rPr lang="en-US" smtClean="0"/>
              <a:t>27</a:t>
            </a:fld>
            <a:endParaRPr lang="en-US"/>
          </a:p>
        </p:txBody>
      </p:sp>
    </p:spTree>
    <p:extLst>
      <p:ext uri="{BB962C8B-B14F-4D97-AF65-F5344CB8AC3E}">
        <p14:creationId xmlns:p14="http://schemas.microsoft.com/office/powerpoint/2010/main" val="3580314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F42B2-5D2F-14BE-1E84-E146B25E9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FAD60-664A-337F-9B58-3327BC7BF0D1}"/>
              </a:ext>
            </a:extLst>
          </p:cNvPr>
          <p:cNvSpPr>
            <a:spLocks noGrp="1"/>
          </p:cNvSpPr>
          <p:nvPr>
            <p:ph type="title"/>
          </p:nvPr>
        </p:nvSpPr>
        <p:spPr/>
        <p:txBody>
          <a:bodyPr/>
          <a:lstStyle/>
          <a:p>
            <a:r>
              <a:rPr lang="en-US" dirty="0">
                <a:solidFill>
                  <a:schemeClr val="accent1"/>
                </a:solidFill>
              </a:rPr>
              <a:t>Case Statement</a:t>
            </a:r>
          </a:p>
        </p:txBody>
      </p:sp>
      <p:sp>
        <p:nvSpPr>
          <p:cNvPr id="4" name="Slide Number Placeholder 3">
            <a:extLst>
              <a:ext uri="{FF2B5EF4-FFF2-40B4-BE49-F238E27FC236}">
                <a16:creationId xmlns:a16="http://schemas.microsoft.com/office/drawing/2014/main" id="{B875E16F-E6E4-7542-279B-73F92760F8F9}"/>
              </a:ext>
            </a:extLst>
          </p:cNvPr>
          <p:cNvSpPr>
            <a:spLocks noGrp="1"/>
          </p:cNvSpPr>
          <p:nvPr>
            <p:ph type="sldNum" sz="quarter" idx="12"/>
          </p:nvPr>
        </p:nvSpPr>
        <p:spPr/>
        <p:txBody>
          <a:bodyPr/>
          <a:lstStyle/>
          <a:p>
            <a:fld id="{B371FB23-F5EE-40F0-B170-9EA725515109}" type="slidenum">
              <a:rPr lang="en-US" smtClean="0"/>
              <a:t>28</a:t>
            </a:fld>
            <a:endParaRPr lang="en-US"/>
          </a:p>
        </p:txBody>
      </p:sp>
      <p:pic>
        <p:nvPicPr>
          <p:cNvPr id="6" name="Picture 5">
            <a:extLst>
              <a:ext uri="{FF2B5EF4-FFF2-40B4-BE49-F238E27FC236}">
                <a16:creationId xmlns:a16="http://schemas.microsoft.com/office/drawing/2014/main" id="{24CC6CF9-0FF1-F196-ECFE-F124E7596E4E}"/>
              </a:ext>
            </a:extLst>
          </p:cNvPr>
          <p:cNvPicPr>
            <a:picLocks noChangeAspect="1"/>
          </p:cNvPicPr>
          <p:nvPr/>
        </p:nvPicPr>
        <p:blipFill>
          <a:blip r:embed="rId2"/>
          <a:stretch>
            <a:fillRect/>
          </a:stretch>
        </p:blipFill>
        <p:spPr>
          <a:xfrm>
            <a:off x="757880" y="1690688"/>
            <a:ext cx="7852720" cy="2931682"/>
          </a:xfrm>
          <a:prstGeom prst="rect">
            <a:avLst/>
          </a:prstGeom>
        </p:spPr>
      </p:pic>
      <p:sp>
        <p:nvSpPr>
          <p:cNvPr id="3" name="Content Placeholder 2">
            <a:extLst>
              <a:ext uri="{FF2B5EF4-FFF2-40B4-BE49-F238E27FC236}">
                <a16:creationId xmlns:a16="http://schemas.microsoft.com/office/drawing/2014/main" id="{E46197B7-7C27-7C70-0770-F1FDB30A1116}"/>
              </a:ext>
            </a:extLst>
          </p:cNvPr>
          <p:cNvSpPr>
            <a:spLocks noGrp="1"/>
          </p:cNvSpPr>
          <p:nvPr>
            <p:ph idx="1"/>
          </p:nvPr>
        </p:nvSpPr>
        <p:spPr>
          <a:xfrm>
            <a:off x="757881" y="4824412"/>
            <a:ext cx="10338488" cy="1531938"/>
          </a:xfrm>
        </p:spPr>
        <p:txBody>
          <a:bodyPr>
            <a:normAutofit/>
          </a:bodyPr>
          <a:lstStyle/>
          <a:p>
            <a:pPr>
              <a:lnSpc>
                <a:spcPct val="150000"/>
              </a:lnSpc>
            </a:pPr>
            <a:r>
              <a:rPr lang="en-US" sz="2400" i="1" dirty="0"/>
              <a:t>case</a:t>
            </a:r>
            <a:r>
              <a:rPr lang="en-US" sz="2400" dirty="0"/>
              <a:t> statement starts with the </a:t>
            </a:r>
            <a:r>
              <a:rPr lang="en-US" sz="2400" dirty="0">
                <a:solidFill>
                  <a:srgbClr val="0070C0"/>
                </a:solidFill>
              </a:rPr>
              <a:t>case</a:t>
            </a:r>
            <a:r>
              <a:rPr lang="en-US" sz="2400" dirty="0"/>
              <a:t> keyword and ends with the </a:t>
            </a:r>
            <a:r>
              <a:rPr lang="en-US" sz="2400" dirty="0" err="1">
                <a:solidFill>
                  <a:srgbClr val="0070C0"/>
                </a:solidFill>
              </a:rPr>
              <a:t>endcase</a:t>
            </a:r>
            <a:r>
              <a:rPr lang="en-US" sz="2400" dirty="0">
                <a:solidFill>
                  <a:srgbClr val="0070C0"/>
                </a:solidFill>
              </a:rPr>
              <a:t> </a:t>
            </a:r>
            <a:r>
              <a:rPr lang="en-US" sz="2400" dirty="0"/>
              <a:t>keyword. </a:t>
            </a:r>
            <a:endParaRPr lang="en-US" sz="2400" dirty="0">
              <a:solidFill>
                <a:srgbClr val="002060"/>
              </a:solidFill>
            </a:endParaRPr>
          </a:p>
        </p:txBody>
      </p:sp>
    </p:spTree>
    <p:extLst>
      <p:ext uri="{BB962C8B-B14F-4D97-AF65-F5344CB8AC3E}">
        <p14:creationId xmlns:p14="http://schemas.microsoft.com/office/powerpoint/2010/main" val="209911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F0AAA-7285-67E8-556A-9183AF134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B39E2-86C4-4E78-49DE-DA6F7B4BCEAD}"/>
              </a:ext>
            </a:extLst>
          </p:cNvPr>
          <p:cNvSpPr>
            <a:spLocks noGrp="1"/>
          </p:cNvSpPr>
          <p:nvPr>
            <p:ph type="title"/>
          </p:nvPr>
        </p:nvSpPr>
        <p:spPr/>
        <p:txBody>
          <a:bodyPr/>
          <a:lstStyle/>
          <a:p>
            <a:r>
              <a:rPr lang="en-US" dirty="0">
                <a:solidFill>
                  <a:schemeClr val="accent1"/>
                </a:solidFill>
              </a:rPr>
              <a:t>Case Statement</a:t>
            </a:r>
          </a:p>
        </p:txBody>
      </p:sp>
      <p:sp>
        <p:nvSpPr>
          <p:cNvPr id="4" name="Slide Number Placeholder 3">
            <a:extLst>
              <a:ext uri="{FF2B5EF4-FFF2-40B4-BE49-F238E27FC236}">
                <a16:creationId xmlns:a16="http://schemas.microsoft.com/office/drawing/2014/main" id="{AB4DE5C1-839A-A2CA-1A72-A3772060F2BA}"/>
              </a:ext>
            </a:extLst>
          </p:cNvPr>
          <p:cNvSpPr>
            <a:spLocks noGrp="1"/>
          </p:cNvSpPr>
          <p:nvPr>
            <p:ph type="sldNum" sz="quarter" idx="12"/>
          </p:nvPr>
        </p:nvSpPr>
        <p:spPr/>
        <p:txBody>
          <a:bodyPr/>
          <a:lstStyle/>
          <a:p>
            <a:fld id="{B371FB23-F5EE-40F0-B170-9EA725515109}" type="slidenum">
              <a:rPr lang="en-US" smtClean="0"/>
              <a:t>29</a:t>
            </a:fld>
            <a:endParaRPr lang="en-US"/>
          </a:p>
        </p:txBody>
      </p:sp>
      <p:pic>
        <p:nvPicPr>
          <p:cNvPr id="6" name="Picture 5">
            <a:extLst>
              <a:ext uri="{FF2B5EF4-FFF2-40B4-BE49-F238E27FC236}">
                <a16:creationId xmlns:a16="http://schemas.microsoft.com/office/drawing/2014/main" id="{31784248-1257-9A35-6E53-12BBEE6EC355}"/>
              </a:ext>
            </a:extLst>
          </p:cNvPr>
          <p:cNvPicPr>
            <a:picLocks noChangeAspect="1"/>
          </p:cNvPicPr>
          <p:nvPr/>
        </p:nvPicPr>
        <p:blipFill>
          <a:blip r:embed="rId3"/>
          <a:stretch>
            <a:fillRect/>
          </a:stretch>
        </p:blipFill>
        <p:spPr>
          <a:xfrm>
            <a:off x="757880" y="1690688"/>
            <a:ext cx="7852720" cy="2931682"/>
          </a:xfrm>
          <a:prstGeom prst="rect">
            <a:avLst/>
          </a:prstGeom>
        </p:spPr>
      </p:pic>
      <p:sp>
        <p:nvSpPr>
          <p:cNvPr id="3" name="Content Placeholder 2">
            <a:extLst>
              <a:ext uri="{FF2B5EF4-FFF2-40B4-BE49-F238E27FC236}">
                <a16:creationId xmlns:a16="http://schemas.microsoft.com/office/drawing/2014/main" id="{1B1D55F0-B1FF-802B-2F76-0EB3A1592603}"/>
              </a:ext>
            </a:extLst>
          </p:cNvPr>
          <p:cNvSpPr>
            <a:spLocks noGrp="1"/>
          </p:cNvSpPr>
          <p:nvPr>
            <p:ph idx="1"/>
          </p:nvPr>
        </p:nvSpPr>
        <p:spPr>
          <a:xfrm>
            <a:off x="757880" y="4824412"/>
            <a:ext cx="10338488" cy="1531938"/>
          </a:xfrm>
        </p:spPr>
        <p:txBody>
          <a:bodyPr>
            <a:normAutofit fontScale="92500" lnSpcReduction="10000"/>
          </a:bodyPr>
          <a:lstStyle/>
          <a:p>
            <a:pPr>
              <a:lnSpc>
                <a:spcPct val="150000"/>
              </a:lnSpc>
            </a:pPr>
            <a:r>
              <a:rPr lang="en-US" sz="2400" dirty="0"/>
              <a:t>The expression within parentheses will be evaluated exactly once and is compared with the list of alternatives in the order they are written and the statements for which the alternative matches the given expression are executed.</a:t>
            </a:r>
            <a:endParaRPr lang="en-US" sz="2400" dirty="0">
              <a:solidFill>
                <a:srgbClr val="002060"/>
              </a:solidFill>
            </a:endParaRPr>
          </a:p>
        </p:txBody>
      </p:sp>
    </p:spTree>
    <p:extLst>
      <p:ext uri="{BB962C8B-B14F-4D97-AF65-F5344CB8AC3E}">
        <p14:creationId xmlns:p14="http://schemas.microsoft.com/office/powerpoint/2010/main" val="1389482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F6A9-DEEB-B57C-2019-67309609F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5880C-8651-5456-CF78-9D67A65A3BF3}"/>
              </a:ext>
            </a:extLst>
          </p:cNvPr>
          <p:cNvSpPr>
            <a:spLocks noGrp="1"/>
          </p:cNvSpPr>
          <p:nvPr>
            <p:ph type="title"/>
          </p:nvPr>
        </p:nvSpPr>
        <p:spPr/>
        <p:txBody>
          <a:bodyPr/>
          <a:lstStyle/>
          <a:p>
            <a:r>
              <a:rPr lang="en-US" dirty="0">
                <a:solidFill>
                  <a:schemeClr val="accent1"/>
                </a:solidFill>
              </a:rPr>
              <a:t>Case Statement</a:t>
            </a:r>
          </a:p>
        </p:txBody>
      </p:sp>
      <p:sp>
        <p:nvSpPr>
          <p:cNvPr id="4" name="Slide Number Placeholder 3">
            <a:extLst>
              <a:ext uri="{FF2B5EF4-FFF2-40B4-BE49-F238E27FC236}">
                <a16:creationId xmlns:a16="http://schemas.microsoft.com/office/drawing/2014/main" id="{98A237EC-F34C-FDDB-DB0D-428CD8855896}"/>
              </a:ext>
            </a:extLst>
          </p:cNvPr>
          <p:cNvSpPr>
            <a:spLocks noGrp="1"/>
          </p:cNvSpPr>
          <p:nvPr>
            <p:ph type="sldNum" sz="quarter" idx="12"/>
          </p:nvPr>
        </p:nvSpPr>
        <p:spPr/>
        <p:txBody>
          <a:bodyPr/>
          <a:lstStyle/>
          <a:p>
            <a:fld id="{B371FB23-F5EE-40F0-B170-9EA725515109}" type="slidenum">
              <a:rPr lang="en-US" smtClean="0"/>
              <a:t>30</a:t>
            </a:fld>
            <a:endParaRPr lang="en-US"/>
          </a:p>
        </p:txBody>
      </p:sp>
      <p:pic>
        <p:nvPicPr>
          <p:cNvPr id="6" name="Picture 5">
            <a:extLst>
              <a:ext uri="{FF2B5EF4-FFF2-40B4-BE49-F238E27FC236}">
                <a16:creationId xmlns:a16="http://schemas.microsoft.com/office/drawing/2014/main" id="{5875E6C6-661E-786E-84B7-0F3754E10ED0}"/>
              </a:ext>
            </a:extLst>
          </p:cNvPr>
          <p:cNvPicPr>
            <a:picLocks noChangeAspect="1"/>
          </p:cNvPicPr>
          <p:nvPr/>
        </p:nvPicPr>
        <p:blipFill>
          <a:blip r:embed="rId3"/>
          <a:stretch>
            <a:fillRect/>
          </a:stretch>
        </p:blipFill>
        <p:spPr>
          <a:xfrm>
            <a:off x="757880" y="1690688"/>
            <a:ext cx="7852720" cy="2931682"/>
          </a:xfrm>
          <a:prstGeom prst="rect">
            <a:avLst/>
          </a:prstGeom>
        </p:spPr>
      </p:pic>
      <p:sp>
        <p:nvSpPr>
          <p:cNvPr id="3" name="Content Placeholder 2">
            <a:extLst>
              <a:ext uri="{FF2B5EF4-FFF2-40B4-BE49-F238E27FC236}">
                <a16:creationId xmlns:a16="http://schemas.microsoft.com/office/drawing/2014/main" id="{0382C006-C5EB-1B78-61E9-FE4CA247E6BD}"/>
              </a:ext>
            </a:extLst>
          </p:cNvPr>
          <p:cNvSpPr>
            <a:spLocks noGrp="1"/>
          </p:cNvSpPr>
          <p:nvPr>
            <p:ph idx="1"/>
          </p:nvPr>
        </p:nvSpPr>
        <p:spPr>
          <a:xfrm>
            <a:off x="757880" y="4824412"/>
            <a:ext cx="10338488" cy="1531938"/>
          </a:xfrm>
        </p:spPr>
        <p:txBody>
          <a:bodyPr>
            <a:normAutofit/>
          </a:bodyPr>
          <a:lstStyle/>
          <a:p>
            <a:pPr>
              <a:lnSpc>
                <a:spcPct val="150000"/>
              </a:lnSpc>
            </a:pPr>
            <a:r>
              <a:rPr lang="en-US" sz="2400" dirty="0"/>
              <a:t>If none of the case items match the given expression, statements within the </a:t>
            </a:r>
            <a:r>
              <a:rPr lang="en-US" sz="2400" dirty="0">
                <a:solidFill>
                  <a:srgbClr val="0070C0"/>
                </a:solidFill>
              </a:rPr>
              <a:t>default</a:t>
            </a:r>
            <a:r>
              <a:rPr lang="en-US" sz="2400" dirty="0"/>
              <a:t> item is executed. The default statement is optional.</a:t>
            </a:r>
            <a:endParaRPr lang="en-US" sz="2400" dirty="0">
              <a:solidFill>
                <a:srgbClr val="002060"/>
              </a:solidFill>
            </a:endParaRPr>
          </a:p>
        </p:txBody>
      </p:sp>
    </p:spTree>
    <p:extLst>
      <p:ext uri="{BB962C8B-B14F-4D97-AF65-F5344CB8AC3E}">
        <p14:creationId xmlns:p14="http://schemas.microsoft.com/office/powerpoint/2010/main" val="2207600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907F4-6B8B-B302-0E34-4AE2F2DE2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2968D-B3BE-596C-0C97-DE3C080FD89A}"/>
              </a:ext>
            </a:extLst>
          </p:cNvPr>
          <p:cNvSpPr>
            <a:spLocks noGrp="1"/>
          </p:cNvSpPr>
          <p:nvPr>
            <p:ph type="title"/>
          </p:nvPr>
        </p:nvSpPr>
        <p:spPr/>
        <p:txBody>
          <a:bodyPr/>
          <a:lstStyle/>
          <a:p>
            <a:r>
              <a:rPr lang="en-US" dirty="0">
                <a:solidFill>
                  <a:schemeClr val="accent1"/>
                </a:solidFill>
              </a:rPr>
              <a:t>Case Statement</a:t>
            </a:r>
          </a:p>
        </p:txBody>
      </p:sp>
      <p:sp>
        <p:nvSpPr>
          <p:cNvPr id="4" name="Slide Number Placeholder 3">
            <a:extLst>
              <a:ext uri="{FF2B5EF4-FFF2-40B4-BE49-F238E27FC236}">
                <a16:creationId xmlns:a16="http://schemas.microsoft.com/office/drawing/2014/main" id="{05491FDE-2C05-EDDC-1295-A30CF330B8C5}"/>
              </a:ext>
            </a:extLst>
          </p:cNvPr>
          <p:cNvSpPr>
            <a:spLocks noGrp="1"/>
          </p:cNvSpPr>
          <p:nvPr>
            <p:ph type="sldNum" sz="quarter" idx="12"/>
          </p:nvPr>
        </p:nvSpPr>
        <p:spPr/>
        <p:txBody>
          <a:bodyPr/>
          <a:lstStyle/>
          <a:p>
            <a:fld id="{B371FB23-F5EE-40F0-B170-9EA725515109}" type="slidenum">
              <a:rPr lang="en-US" smtClean="0"/>
              <a:t>31</a:t>
            </a:fld>
            <a:endParaRPr lang="en-US"/>
          </a:p>
        </p:txBody>
      </p:sp>
      <p:pic>
        <p:nvPicPr>
          <p:cNvPr id="6" name="Picture 5">
            <a:extLst>
              <a:ext uri="{FF2B5EF4-FFF2-40B4-BE49-F238E27FC236}">
                <a16:creationId xmlns:a16="http://schemas.microsoft.com/office/drawing/2014/main" id="{6156470F-FC7C-24F6-F1EC-497232159D37}"/>
              </a:ext>
            </a:extLst>
          </p:cNvPr>
          <p:cNvPicPr>
            <a:picLocks noChangeAspect="1"/>
          </p:cNvPicPr>
          <p:nvPr/>
        </p:nvPicPr>
        <p:blipFill>
          <a:blip r:embed="rId3"/>
          <a:stretch>
            <a:fillRect/>
          </a:stretch>
        </p:blipFill>
        <p:spPr>
          <a:xfrm>
            <a:off x="757880" y="1690688"/>
            <a:ext cx="7852720" cy="2931682"/>
          </a:xfrm>
          <a:prstGeom prst="rect">
            <a:avLst/>
          </a:prstGeom>
        </p:spPr>
      </p:pic>
      <p:sp>
        <p:nvSpPr>
          <p:cNvPr id="3" name="Content Placeholder 2">
            <a:extLst>
              <a:ext uri="{FF2B5EF4-FFF2-40B4-BE49-F238E27FC236}">
                <a16:creationId xmlns:a16="http://schemas.microsoft.com/office/drawing/2014/main" id="{1DE49A73-083E-59CA-B63B-C5C5B7BDADCE}"/>
              </a:ext>
            </a:extLst>
          </p:cNvPr>
          <p:cNvSpPr>
            <a:spLocks noGrp="1"/>
          </p:cNvSpPr>
          <p:nvPr>
            <p:ph idx="1"/>
          </p:nvPr>
        </p:nvSpPr>
        <p:spPr>
          <a:xfrm>
            <a:off x="757880" y="5006974"/>
            <a:ext cx="10338488" cy="1531938"/>
          </a:xfrm>
        </p:spPr>
        <p:txBody>
          <a:bodyPr>
            <a:normAutofit/>
          </a:bodyPr>
          <a:lstStyle/>
          <a:p>
            <a:pPr>
              <a:lnSpc>
                <a:spcPct val="150000"/>
              </a:lnSpc>
            </a:pPr>
            <a:r>
              <a:rPr lang="en-US" sz="2400" dirty="0"/>
              <a:t>A case statement must always be placed inside a </a:t>
            </a:r>
            <a:r>
              <a:rPr lang="en-US" sz="2400" b="1" i="1" dirty="0"/>
              <a:t>procedural block</a:t>
            </a:r>
            <a:r>
              <a:rPr lang="en-US" sz="2400" dirty="0"/>
              <a:t>.</a:t>
            </a:r>
          </a:p>
        </p:txBody>
      </p:sp>
    </p:spTree>
    <p:extLst>
      <p:ext uri="{BB962C8B-B14F-4D97-AF65-F5344CB8AC3E}">
        <p14:creationId xmlns:p14="http://schemas.microsoft.com/office/powerpoint/2010/main" val="1559652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28A5C-8B5B-8884-125D-29C0A70CF0B4}"/>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550B655-2F78-5CDC-70D5-0C9C52F1C749}"/>
              </a:ext>
            </a:extLst>
          </p:cNvPr>
          <p:cNvPicPr>
            <a:picLocks noGrp="1" noChangeAspect="1"/>
          </p:cNvPicPr>
          <p:nvPr>
            <p:ph idx="1"/>
          </p:nvPr>
        </p:nvPicPr>
        <p:blipFill>
          <a:blip r:embed="rId2"/>
          <a:stretch>
            <a:fillRect/>
          </a:stretch>
        </p:blipFill>
        <p:spPr>
          <a:xfrm>
            <a:off x="927691" y="1828892"/>
            <a:ext cx="8688206" cy="2769991"/>
          </a:xfrm>
          <a:prstGeom prst="rect">
            <a:avLst/>
          </a:prstGeom>
        </p:spPr>
      </p:pic>
      <p:sp>
        <p:nvSpPr>
          <p:cNvPr id="2" name="Title 1">
            <a:extLst>
              <a:ext uri="{FF2B5EF4-FFF2-40B4-BE49-F238E27FC236}">
                <a16:creationId xmlns:a16="http://schemas.microsoft.com/office/drawing/2014/main" id="{AAB1CFAA-F1BB-120E-8497-DBDEC261D20C}"/>
              </a:ext>
            </a:extLst>
          </p:cNvPr>
          <p:cNvSpPr>
            <a:spLocks noGrp="1"/>
          </p:cNvSpPr>
          <p:nvPr>
            <p:ph type="title"/>
          </p:nvPr>
        </p:nvSpPr>
        <p:spPr/>
        <p:txBody>
          <a:bodyPr/>
          <a:lstStyle/>
          <a:p>
            <a:r>
              <a:rPr lang="en-US" dirty="0">
                <a:solidFill>
                  <a:schemeClr val="accent1"/>
                </a:solidFill>
              </a:rPr>
              <a:t>Design a State Machine - SystemVerilog</a:t>
            </a:r>
          </a:p>
        </p:txBody>
      </p:sp>
      <p:sp>
        <p:nvSpPr>
          <p:cNvPr id="4" name="Slide Number Placeholder 3">
            <a:extLst>
              <a:ext uri="{FF2B5EF4-FFF2-40B4-BE49-F238E27FC236}">
                <a16:creationId xmlns:a16="http://schemas.microsoft.com/office/drawing/2014/main" id="{937F2871-CABC-D8DF-E808-0EF7EF157C19}"/>
              </a:ext>
            </a:extLst>
          </p:cNvPr>
          <p:cNvSpPr>
            <a:spLocks noGrp="1"/>
          </p:cNvSpPr>
          <p:nvPr>
            <p:ph type="sldNum" sz="quarter" idx="12"/>
          </p:nvPr>
        </p:nvSpPr>
        <p:spPr/>
        <p:txBody>
          <a:bodyPr/>
          <a:lstStyle/>
          <a:p>
            <a:fld id="{B371FB23-F5EE-40F0-B170-9EA725515109}" type="slidenum">
              <a:rPr lang="en-US" smtClean="0"/>
              <a:t>32</a:t>
            </a:fld>
            <a:endParaRPr lang="en-US"/>
          </a:p>
        </p:txBody>
      </p:sp>
      <p:sp>
        <p:nvSpPr>
          <p:cNvPr id="7" name="Content Placeholder 2">
            <a:extLst>
              <a:ext uri="{FF2B5EF4-FFF2-40B4-BE49-F238E27FC236}">
                <a16:creationId xmlns:a16="http://schemas.microsoft.com/office/drawing/2014/main" id="{924BF781-1756-6096-D2B9-DEFCE43ADAC8}"/>
              </a:ext>
            </a:extLst>
          </p:cNvPr>
          <p:cNvSpPr txBox="1">
            <a:spLocks/>
          </p:cNvSpPr>
          <p:nvPr/>
        </p:nvSpPr>
        <p:spPr>
          <a:xfrm>
            <a:off x="1143114" y="4985909"/>
            <a:ext cx="7639521" cy="17355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2400" dirty="0"/>
              <a:t>Conditional (ternary) operator</a:t>
            </a:r>
          </a:p>
          <a:p>
            <a:pPr marL="457200" lvl="1" indent="0">
              <a:lnSpc>
                <a:spcPct val="150000"/>
              </a:lnSpc>
              <a:buNone/>
            </a:pPr>
            <a:r>
              <a:rPr lang="en-US" dirty="0">
                <a:solidFill>
                  <a:srgbClr val="002060"/>
                </a:solidFill>
                <a:latin typeface="Abadi Extra Light" panose="020B0204020104020204" pitchFamily="34" charset="0"/>
              </a:rPr>
              <a:t>y = (condition) ? </a:t>
            </a:r>
            <a:r>
              <a:rPr lang="en-US" dirty="0" err="1">
                <a:solidFill>
                  <a:srgbClr val="002060"/>
                </a:solidFill>
                <a:latin typeface="Abadi Extra Light" panose="020B0204020104020204" pitchFamily="34" charset="0"/>
              </a:rPr>
              <a:t>value_if_true</a:t>
            </a:r>
            <a:r>
              <a:rPr lang="en-US" dirty="0">
                <a:solidFill>
                  <a:srgbClr val="002060"/>
                </a:solidFill>
                <a:latin typeface="Abadi Extra Light" panose="020B0204020104020204" pitchFamily="34" charset="0"/>
              </a:rPr>
              <a:t> : </a:t>
            </a:r>
            <a:r>
              <a:rPr lang="en-US" dirty="0" err="1">
                <a:solidFill>
                  <a:srgbClr val="002060"/>
                </a:solidFill>
                <a:latin typeface="Abadi Extra Light" panose="020B0204020104020204" pitchFamily="34" charset="0"/>
              </a:rPr>
              <a:t>value_if_false</a:t>
            </a:r>
            <a:r>
              <a:rPr lang="en-US" dirty="0">
                <a:solidFill>
                  <a:srgbClr val="002060"/>
                </a:solidFill>
                <a:latin typeface="Abadi Extra Light" panose="020B0204020104020204" pitchFamily="34" charset="0"/>
              </a:rPr>
              <a:t>;</a:t>
            </a:r>
            <a:endParaRPr lang="en-US" b="1" i="1" dirty="0">
              <a:solidFill>
                <a:srgbClr val="002060"/>
              </a:solidFill>
              <a:latin typeface="Abadi Extra Light" panose="020B0204020104020204" pitchFamily="34" charset="0"/>
            </a:endParaRPr>
          </a:p>
        </p:txBody>
      </p:sp>
    </p:spTree>
    <p:extLst>
      <p:ext uri="{BB962C8B-B14F-4D97-AF65-F5344CB8AC3E}">
        <p14:creationId xmlns:p14="http://schemas.microsoft.com/office/powerpoint/2010/main" val="16115644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32A45"/>
      </a:accent1>
      <a:accent2>
        <a:srgbClr val="E97132"/>
      </a:accent2>
      <a:accent3>
        <a:srgbClr val="196B24"/>
      </a:accent3>
      <a:accent4>
        <a:srgbClr val="2AAFD6"/>
      </a:accent4>
      <a:accent5>
        <a:srgbClr val="A02B93"/>
      </a:accent5>
      <a:accent6>
        <a:srgbClr val="4EA72E"/>
      </a:accent6>
      <a:hlink>
        <a:srgbClr val="467886"/>
      </a:hlink>
      <a:folHlink>
        <a:srgbClr val="96607D"/>
      </a:folHlink>
    </a:clrScheme>
    <a:fontScheme name="Office">
      <a:majorFont>
        <a:latin typeface="Cambria"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7922</TotalTime>
  <Words>1355</Words>
  <Application>Microsoft Office PowerPoint</Application>
  <PresentationFormat>Widescreen</PresentationFormat>
  <Paragraphs>164</Paragraphs>
  <Slides>32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Abadi Extra Light</vt:lpstr>
      <vt:lpstr>Aptos</vt:lpstr>
      <vt:lpstr>Arial</vt:lpstr>
      <vt:lpstr>Calibri</vt:lpstr>
      <vt:lpstr>Cambria</vt:lpstr>
      <vt:lpstr>Cambria Math</vt:lpstr>
      <vt:lpstr>Office Theme</vt:lpstr>
      <vt:lpstr>PowerPoint Presentation</vt:lpstr>
      <vt:lpstr>Last Lecture</vt:lpstr>
      <vt:lpstr>Design Example</vt:lpstr>
      <vt:lpstr>Design Example</vt:lpstr>
      <vt:lpstr>Design Example</vt:lpstr>
      <vt:lpstr>Design Example-D Flip-flop</vt:lpstr>
      <vt:lpstr>Design Example-D Flip-flop</vt:lpstr>
      <vt:lpstr>Design Example-D Flip-flop</vt:lpstr>
      <vt:lpstr>Design Example-D Flip-flop</vt:lpstr>
      <vt:lpstr>Design Example-D Flip-flop</vt:lpstr>
      <vt:lpstr>Design a State Machine </vt:lpstr>
      <vt:lpstr>Design a State Machine - SystemVerilog</vt:lpstr>
      <vt:lpstr>Design a State Machine - SystemVerilog</vt:lpstr>
      <vt:lpstr>Design a State Machine - SystemVerilog</vt:lpstr>
      <vt:lpstr>Design a State Machine - SystemVerilog</vt:lpstr>
      <vt:lpstr>Design a State Machine - SystemVerilog</vt:lpstr>
      <vt:lpstr>Design a State Machine - SystemVerilog</vt:lpstr>
      <vt:lpstr>Design a State Machine - SystemVerilog</vt:lpstr>
      <vt:lpstr>Enumerated type </vt:lpstr>
      <vt:lpstr>Typedef</vt:lpstr>
      <vt:lpstr>Design a State Machine - SystemVerilog</vt:lpstr>
      <vt:lpstr>Design a State Machine - SystemVerilog</vt:lpstr>
      <vt:lpstr>Design a State Machine - SystemVerilog</vt:lpstr>
      <vt:lpstr>Design a State Machine - SystemVerilog</vt:lpstr>
      <vt:lpstr>Design a State Machine - SystemVerilog</vt:lpstr>
      <vt:lpstr>Design a State Machine - SystemVerilog</vt:lpstr>
      <vt:lpstr>Case Statement</vt:lpstr>
      <vt:lpstr>Case Statement</vt:lpstr>
      <vt:lpstr>Case Statement</vt:lpstr>
      <vt:lpstr>Case Statement</vt:lpstr>
      <vt:lpstr>Case Statement</vt:lpstr>
      <vt:lpstr>Design a State Machine - SystemVerilog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Nazanin Ghasemian</dc:creator>
  <cp:lastModifiedBy>Nazanin Ghasemian</cp:lastModifiedBy>
  <cp:revision>125</cp:revision>
  <cp:lastPrinted>2025-08-28T21:22:08Z</cp:lastPrinted>
  <dcterms:created xsi:type="dcterms:W3CDTF">2025-07-31T17:33:43Z</dcterms:created>
  <dcterms:modified xsi:type="dcterms:W3CDTF">2026-09-10T22:12:41Z</dcterms:modified>
</cp:coreProperties>
</file>